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Roboto"/>
      <p:regular r:id="rId21"/>
      <p:bold r:id="rId22"/>
      <p:italic r:id="rId23"/>
      <p:boldItalic r:id="rId24"/>
    </p:embeddedFont>
    <p:embeddedFont>
      <p:font typeface="Inter"/>
      <p:regular r:id="rId25"/>
      <p:bold r:id="rId26"/>
      <p:italic r:id="rId27"/>
      <p:boldItalic r:id="rId28"/>
    </p:embeddedFont>
    <p:embeddedFont>
      <p:font typeface="JetBrains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AD211E-4BF6-42B3-A8E3-2E2BD1B7D422}">
  <a:tblStyle styleId="{63AD211E-4BF6-42B3-A8E3-2E2BD1B7D42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JetBrainsMon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JetBrainsMono-italic.fntdata"/><Relationship Id="rId30" Type="http://schemas.openxmlformats.org/officeDocument/2006/relationships/font" Target="fonts/JetBrainsMono-bold.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JetBrainsMono-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1ea438715_1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e1ea438715_1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fa97ad5fd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fa97ad5fd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fa5d4bb4d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dfa5d4bb4d_1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1ea438715_1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3e1ea438715_1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fa97ad5fd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Why build this now? Solana is fortinor in AI micropayments , which as captured nearly 49% </a:t>
            </a:r>
            <a:r>
              <a:rPr lang="en-GB"/>
              <a:t>markets</a:t>
            </a:r>
            <a:r>
              <a:rPr lang="en-GB"/>
              <a:t> share today , 2025 alone 31 billions </a:t>
            </a:r>
            <a:r>
              <a:rPr lang="en-GB"/>
              <a:t>dollars</a:t>
            </a:r>
            <a:r>
              <a:rPr lang="en-GB"/>
              <a:t> volume made payments. </a:t>
            </a:r>
            <a:br>
              <a:rPr lang="en-GB"/>
            </a:br>
            <a:r>
              <a:rPr lang="en-GB"/>
              <a:t>Karpathy's 'March of Nines' math proves that  If an agent executes 10 reasoning  steps at 90% reliability, compounding dictates a 65% failure rate. </a:t>
            </a:r>
            <a:br>
              <a:rPr lang="en-GB"/>
            </a:br>
            <a:r>
              <a:rPr lang="en-GB"/>
              <a:t>To handle to tell </a:t>
            </a:r>
            <a:r>
              <a:rPr lang="en-GB"/>
              <a:t>companies</a:t>
            </a:r>
            <a:r>
              <a:rPr lang="en-GB"/>
              <a:t> like openAI and stripe </a:t>
            </a:r>
            <a:r>
              <a:rPr lang="en-GB"/>
              <a:t>built</a:t>
            </a:r>
            <a:r>
              <a:rPr lang="en-GB"/>
              <a:t> their own evals to make make their agents better </a:t>
            </a:r>
            <a:r>
              <a:rPr lang="en-GB"/>
              <a:t>reliably. </a:t>
            </a:r>
            <a:br>
              <a:rPr lang="en-GB"/>
            </a:br>
            <a:r>
              <a:rPr lang="en-GB"/>
              <a:t> </a:t>
            </a:r>
            <a:endParaRPr/>
          </a:p>
        </p:txBody>
      </p:sp>
      <p:sp>
        <p:nvSpPr>
          <p:cNvPr id="180" name="Google Shape;180;g3dfa97ad5fd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1ea438715_1_2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We are the  same team who won Hack europe solana track ,AWS </a:t>
            </a:r>
            <a:r>
              <a:rPr lang="en-GB"/>
              <a:t>global</a:t>
            </a:r>
            <a:r>
              <a:rPr lang="en-GB"/>
              <a:t> Agent </a:t>
            </a:r>
            <a:r>
              <a:rPr lang="en-GB"/>
              <a:t>Hackathon</a:t>
            </a:r>
            <a:r>
              <a:rPr lang="en-GB"/>
              <a:t> and many. Also </a:t>
            </a:r>
            <a:r>
              <a:rPr lang="en-GB"/>
              <a:t>building</a:t>
            </a:r>
            <a:r>
              <a:rPr lang="en-GB"/>
              <a:t>  defi solutions with uniswap Hook </a:t>
            </a:r>
            <a:r>
              <a:rPr lang="en-GB"/>
              <a:t>incubator. We are masters students pursuing in AI and cloud from DCU and NCI. Who have been built web3 solutions and scalable infra. </a:t>
            </a:r>
            <a:endParaRPr/>
          </a:p>
        </p:txBody>
      </p:sp>
      <p:sp>
        <p:nvSpPr>
          <p:cNvPr id="212" name="Google Shape;212;g3e1ea438715_1_2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fa97ad5fd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The is our harness </a:t>
            </a:r>
            <a:r>
              <a:rPr lang="en-GB"/>
              <a:t>solution</a:t>
            </a:r>
            <a:r>
              <a:rPr lang="en-GB"/>
              <a:t>,</a:t>
            </a:r>
            <a:r>
              <a:rPr lang="en-GB">
                <a:solidFill>
                  <a:schemeClr val="dk1"/>
                </a:solidFill>
              </a:rPr>
              <a:t>Instead of trusting the LLM, our Guardian intercepts the agent's intent </a:t>
            </a:r>
            <a:r>
              <a:rPr i="1" lang="en-GB">
                <a:solidFill>
                  <a:schemeClr val="dk1"/>
                </a:solidFill>
              </a:rPr>
              <a:t>before</a:t>
            </a:r>
            <a:r>
              <a:rPr lang="en-GB">
                <a:solidFill>
                  <a:schemeClr val="dk1"/>
                </a:solidFill>
              </a:rPr>
              <a:t> it signs. We take the raw transaction bytes and simulate them completely off-chain using Solana's LiteSVM. We evaluate those bytes against over 2,010 strict rules and 30 </a:t>
            </a:r>
            <a:r>
              <a:rPr lang="en-GB">
                <a:solidFill>
                  <a:schemeClr val="dk1"/>
                </a:solidFill>
              </a:rPr>
              <a:t>test cases</a:t>
            </a:r>
            <a:r>
              <a:rPr lang="en-GB">
                <a:solidFill>
                  <a:schemeClr val="dk1"/>
                </a:solidFill>
              </a:rPr>
              <a:t> . If an MEV bot tries a 99% slippage attack, our SAK blocks it in on and </a:t>
            </a:r>
            <a:r>
              <a:rPr lang="en-GB">
                <a:solidFill>
                  <a:schemeClr val="dk1"/>
                </a:solidFill>
              </a:rPr>
              <a:t>average</a:t>
            </a:r>
            <a:r>
              <a:rPr lang="en-GB">
                <a:solidFill>
                  <a:schemeClr val="dk1"/>
                </a:solidFill>
              </a:rPr>
              <a:t>  under 50 milliseconds. Zero on-chain cost. Absolute deterministic safety.</a:t>
            </a:r>
            <a:endParaRPr/>
          </a:p>
        </p:txBody>
      </p:sp>
      <p:sp>
        <p:nvSpPr>
          <p:cNvPr id="252" name="Google Shape;252;g3dfa97ad5fd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e1d3e9617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3e1d3e96171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1ea438715_1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t>Our roadmap to capture this market is aggressive. We roll out our Devnet Beta in Q1, the Public SDK in Q2, and scale to Enterprise VPC deployments in Q3 so we can become the undisputed institutional standard for AI APIs.</a:t>
            </a:r>
            <a:endParaRPr/>
          </a:p>
          <a:p>
            <a:pPr indent="0" lvl="0" marL="0" rtl="0" algn="l">
              <a:lnSpc>
                <a:spcPct val="100000"/>
              </a:lnSpc>
              <a:spcBef>
                <a:spcPts val="0"/>
              </a:spcBef>
              <a:spcAft>
                <a:spcPts val="0"/>
              </a:spcAft>
              <a:buSzPts val="1100"/>
              <a:buNone/>
            </a:pPr>
            <a:r>
              <a:t/>
            </a:r>
            <a:endParaRPr/>
          </a:p>
        </p:txBody>
      </p:sp>
      <p:sp>
        <p:nvSpPr>
          <p:cNvPr id="308" name="Google Shape;308;g3e1ea438715_1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fa97ad5fd_0_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dfa97ad5fd_0_4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1d3e96171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e1d3e96171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e1ea438715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e1ea438715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22bbb7bf9_8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e22bbb7bf9_8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50" y="1597819"/>
            <a:ext cx="5829300" cy="1102519"/>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5"/>
          <p:cNvSpPr txBox="1"/>
          <p:nvPr>
            <p:ph idx="1" type="subTitle"/>
          </p:nvPr>
        </p:nvSpPr>
        <p:spPr>
          <a:xfrm>
            <a:off x="1028700" y="2914650"/>
            <a:ext cx="4800600" cy="131445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6"/>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35" y="3305175"/>
            <a:ext cx="5829300" cy="1021556"/>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7"/>
          <p:cNvSpPr txBox="1"/>
          <p:nvPr>
            <p:ph idx="1" type="body"/>
          </p:nvPr>
        </p:nvSpPr>
        <p:spPr>
          <a:xfrm>
            <a:off x="541735" y="2180035"/>
            <a:ext cx="5829300" cy="112514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8"/>
          <p:cNvSpPr txBox="1"/>
          <p:nvPr>
            <p:ph idx="1" type="body"/>
          </p:nvPr>
        </p:nvSpPr>
        <p:spPr>
          <a:xfrm>
            <a:off x="34290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15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9"/>
          <p:cNvSpPr txBox="1"/>
          <p:nvPr>
            <p:ph idx="1" type="body"/>
          </p:nvPr>
        </p:nvSpPr>
        <p:spPr>
          <a:xfrm>
            <a:off x="342900" y="1151335"/>
            <a:ext cx="3030141"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0" y="1631156"/>
            <a:ext cx="3030141"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769" y="1151335"/>
            <a:ext cx="3031331"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769" y="1631156"/>
            <a:ext cx="3031331"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0" y="204788"/>
            <a:ext cx="2256235" cy="871538"/>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2681287" y="204788"/>
            <a:ext cx="3833813" cy="4389835"/>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0" y="1076325"/>
            <a:ext cx="2256235" cy="351829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2"/>
          <p:cNvSpPr/>
          <p:nvPr>
            <p:ph idx="2" type="pic"/>
          </p:nvPr>
        </p:nvSpPr>
        <p:spPr>
          <a:xfrm>
            <a:off x="1344216" y="459581"/>
            <a:ext cx="4114800" cy="3086100"/>
          </a:xfrm>
          <a:prstGeom prst="rect">
            <a:avLst/>
          </a:prstGeom>
          <a:noFill/>
          <a:ln>
            <a:noFill/>
          </a:ln>
        </p:spPr>
      </p:sp>
      <p:sp>
        <p:nvSpPr>
          <p:cNvPr id="109" name="Google Shape;109;p22"/>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2" name="Google Shape;112;p22"/>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3"/>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254" y="1628776"/>
            <a:ext cx="4388644" cy="15430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4"/>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2.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 Id="rId10" Type="http://schemas.openxmlformats.org/officeDocument/2006/relationships/image" Target="../media/image7.png"/><Relationship Id="rId9"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18.png"/><Relationship Id="rId13" Type="http://schemas.openxmlformats.org/officeDocument/2006/relationships/image" Target="../media/image23.png"/><Relationship Id="rId12" Type="http://schemas.openxmlformats.org/officeDocument/2006/relationships/image" Target="../media/image25.png"/><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5.png"/><Relationship Id="rId15" Type="http://schemas.openxmlformats.org/officeDocument/2006/relationships/image" Target="../media/image17.png"/><Relationship Id="rId14" Type="http://schemas.openxmlformats.org/officeDocument/2006/relationships/image" Target="../media/image19.png"/><Relationship Id="rId16"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24.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9.png"/><Relationship Id="rId13" Type="http://schemas.openxmlformats.org/officeDocument/2006/relationships/image" Target="../media/image32.jpg"/><Relationship Id="rId12" Type="http://schemas.openxmlformats.org/officeDocument/2006/relationships/image" Target="../media/image35.png"/><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64.jpg"/><Relationship Id="rId9" Type="http://schemas.openxmlformats.org/officeDocument/2006/relationships/image" Target="../media/image33.png"/><Relationship Id="rId15" Type="http://schemas.openxmlformats.org/officeDocument/2006/relationships/image" Target="../media/image28.png"/><Relationship Id="rId14" Type="http://schemas.openxmlformats.org/officeDocument/2006/relationships/image" Target="../media/image31.jpg"/><Relationship Id="rId17" Type="http://schemas.openxmlformats.org/officeDocument/2006/relationships/image" Target="../media/image34.png"/><Relationship Id="rId16"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26.jpg"/><Relationship Id="rId18" Type="http://schemas.openxmlformats.org/officeDocument/2006/relationships/image" Target="../media/image37.png"/><Relationship Id="rId7" Type="http://schemas.openxmlformats.org/officeDocument/2006/relationships/image" Target="../media/image27.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43.png"/><Relationship Id="rId13" Type="http://schemas.openxmlformats.org/officeDocument/2006/relationships/image" Target="../media/image45.png"/><Relationship Id="rId12" Type="http://schemas.openxmlformats.org/officeDocument/2006/relationships/image" Target="../media/image47.png"/><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39.png"/><Relationship Id="rId15" Type="http://schemas.openxmlformats.org/officeDocument/2006/relationships/image" Target="../media/image49.png"/><Relationship Id="rId14" Type="http://schemas.openxmlformats.org/officeDocument/2006/relationships/image" Target="../media/image51.png"/><Relationship Id="rId16" Type="http://schemas.openxmlformats.org/officeDocument/2006/relationships/image" Target="../media/image7.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1.png"/><Relationship Id="rId8" Type="http://schemas.openxmlformats.org/officeDocument/2006/relationships/image" Target="../media/image4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56.png"/><Relationship Id="rId5" Type="http://schemas.openxmlformats.org/officeDocument/2006/relationships/image" Target="../media/image50.png"/></Relationships>
</file>

<file path=ppt/slides/_rels/slide9.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77.png"/><Relationship Id="rId13" Type="http://schemas.openxmlformats.org/officeDocument/2006/relationships/image" Target="../media/image61.png"/><Relationship Id="rId12" Type="http://schemas.openxmlformats.org/officeDocument/2006/relationships/image" Target="../media/image58.png"/><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9.png"/><Relationship Id="rId9" Type="http://schemas.openxmlformats.org/officeDocument/2006/relationships/image" Target="../media/image53.png"/><Relationship Id="rId15" Type="http://schemas.openxmlformats.org/officeDocument/2006/relationships/image" Target="../media/image54.png"/><Relationship Id="rId14" Type="http://schemas.openxmlformats.org/officeDocument/2006/relationships/image" Target="../media/image66.png"/><Relationship Id="rId16" Type="http://schemas.openxmlformats.org/officeDocument/2006/relationships/image" Target="../media/image67.png"/><Relationship Id="rId5" Type="http://schemas.openxmlformats.org/officeDocument/2006/relationships/image" Target="../media/image69.png"/><Relationship Id="rId6" Type="http://schemas.openxmlformats.org/officeDocument/2006/relationships/image" Target="../media/image52.png"/><Relationship Id="rId7" Type="http://schemas.openxmlformats.org/officeDocument/2006/relationships/image" Target="../media/image55.png"/><Relationship Id="rId8" Type="http://schemas.openxmlformats.org/officeDocument/2006/relationships/image" Target="../media/image62.jpg"/></Relationships>
</file>

<file path=ppt/slides/_rels/slide10.xml.rels><?xml version="1.0" encoding="UTF-8" standalone="yes"?><Relationships xmlns="http://schemas.openxmlformats.org/package/2006/relationships"><Relationship Id="rId10" Type="http://schemas.openxmlformats.org/officeDocument/2006/relationships/image" Target="../media/image74.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71.png"/><Relationship Id="rId5" Type="http://schemas.openxmlformats.org/officeDocument/2006/relationships/image" Target="../media/image76.png"/><Relationship Id="rId6" Type="http://schemas.openxmlformats.org/officeDocument/2006/relationships/image" Target="../media/image70.png"/><Relationship Id="rId7" Type="http://schemas.openxmlformats.org/officeDocument/2006/relationships/image" Target="../media/image79.png"/><Relationship Id="rId8"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hyperlink" Target="http://www.youtube.com/watch?v=EqUvBOnYK9k" TargetMode="External"/><Relationship Id="rId5" Type="http://schemas.openxmlformats.org/officeDocument/2006/relationships/image" Target="../media/image7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drive.google.com/file/d/1dBIUIMLf3Q67Lt1DJCzOc8QCoSRCn3_k/view" TargetMode="External"/><Relationship Id="rId6" Type="http://schemas.openxmlformats.org/officeDocument/2006/relationships/image" Target="../media/image7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0.png"/><Relationship Id="rId5" Type="http://schemas.openxmlformats.org/officeDocument/2006/relationships/image" Target="../media/image78.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25"/>
          <p:cNvSpPr txBox="1"/>
          <p:nvPr/>
        </p:nvSpPr>
        <p:spPr>
          <a:xfrm>
            <a:off x="508500" y="2894348"/>
            <a:ext cx="5185800" cy="4617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400"/>
              <a:buFont typeface="Arial"/>
              <a:buNone/>
            </a:pPr>
            <a:r>
              <a:rPr b="1" i="0" lang="en-GB" sz="3000" u="none" cap="none" strike="noStrike">
                <a:solidFill>
                  <a:srgbClr val="4EBA65"/>
                </a:solidFill>
                <a:latin typeface="JetBrains Mono"/>
                <a:ea typeface="JetBrains Mono"/>
                <a:cs typeface="JetBrains Mono"/>
                <a:sym typeface="JetBrains Mono"/>
              </a:rPr>
              <a:t>SOLANA AGENT KERNEL</a:t>
            </a:r>
            <a:endParaRPr b="1" i="0" sz="3000" u="none" cap="none" strike="noStrike">
              <a:solidFill>
                <a:srgbClr val="000000"/>
              </a:solidFill>
            </a:endParaRPr>
          </a:p>
        </p:txBody>
      </p:sp>
      <p:sp>
        <p:nvSpPr>
          <p:cNvPr id="130" name="Google Shape;130;p25"/>
          <p:cNvSpPr txBox="1"/>
          <p:nvPr/>
        </p:nvSpPr>
        <p:spPr>
          <a:xfrm>
            <a:off x="73800" y="3453950"/>
            <a:ext cx="6055200" cy="231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800"/>
              <a:buFont typeface="Arial"/>
              <a:buNone/>
            </a:pPr>
            <a:r>
              <a:rPr b="0" i="0" lang="en-GB" sz="1500" u="none" cap="none" strike="noStrike">
                <a:solidFill>
                  <a:srgbClr val="F5F5F5"/>
                </a:solidFill>
                <a:latin typeface="Inter"/>
                <a:ea typeface="Inter"/>
                <a:cs typeface="Inter"/>
                <a:sym typeface="Inter"/>
              </a:rPr>
              <a:t>Ship agents that can't be used against you.</a:t>
            </a:r>
            <a:endParaRPr b="0" i="0" sz="1500" u="none" cap="none" strike="noStrike">
              <a:solidFill>
                <a:srgbClr val="000000"/>
              </a:solidFill>
              <a:latin typeface="Arial"/>
              <a:ea typeface="Arial"/>
              <a:cs typeface="Arial"/>
              <a:sym typeface="Arial"/>
            </a:endParaRPr>
          </a:p>
        </p:txBody>
      </p:sp>
      <p:sp>
        <p:nvSpPr>
          <p:cNvPr id="131" name="Google Shape;131;p25"/>
          <p:cNvSpPr txBox="1"/>
          <p:nvPr/>
        </p:nvSpPr>
        <p:spPr>
          <a:xfrm>
            <a:off x="31500" y="3907150"/>
            <a:ext cx="6476400" cy="184800"/>
          </a:xfrm>
          <a:prstGeom prst="rect">
            <a:avLst/>
          </a:prstGeom>
          <a:noFill/>
          <a:ln>
            <a:noFill/>
          </a:ln>
        </p:spPr>
        <p:txBody>
          <a:bodyPr anchorCtr="0" anchor="t" bIns="0" lIns="0" spcFirstLastPara="1" rIns="0" wrap="square" tIns="0">
            <a:spAutoFit/>
          </a:bodyPr>
          <a:lstStyle/>
          <a:p>
            <a:pPr indent="457200" lvl="0" marL="0" marR="0" rtl="0" algn="l">
              <a:lnSpc>
                <a:spcPct val="100000"/>
              </a:lnSpc>
              <a:spcBef>
                <a:spcPts val="0"/>
              </a:spcBef>
              <a:spcAft>
                <a:spcPts val="0"/>
              </a:spcAft>
              <a:buClr>
                <a:srgbClr val="000000"/>
              </a:buClr>
              <a:buSzPts val="900"/>
              <a:buFont typeface="Arial"/>
              <a:buNone/>
            </a:pPr>
            <a:r>
              <a:rPr b="0" i="0" lang="en-GB" sz="1200" u="none" cap="none" strike="noStrike">
                <a:solidFill>
                  <a:srgbClr val="8B8B8B"/>
                </a:solidFill>
                <a:latin typeface="Inter"/>
                <a:ea typeface="Inter"/>
                <a:cs typeface="Inter"/>
                <a:sym typeface="Inter"/>
              </a:rPr>
              <a:t>PRE-SIGN KILL SWITCH</a:t>
            </a:r>
            <a:r>
              <a:rPr lang="en-GB" sz="1200">
                <a:solidFill>
                  <a:srgbClr val="8B8B8B"/>
                </a:solidFill>
                <a:latin typeface="Inter"/>
                <a:ea typeface="Inter"/>
                <a:cs typeface="Inter"/>
                <a:sym typeface="Inter"/>
              </a:rPr>
              <a:t>		</a:t>
            </a:r>
            <a:r>
              <a:rPr b="0" i="0" lang="en-GB" sz="1200" u="none" cap="none" strike="noStrike">
                <a:solidFill>
                  <a:srgbClr val="8B8B8B"/>
                </a:solidFill>
                <a:latin typeface="Inter"/>
                <a:ea typeface="Inter"/>
                <a:cs typeface="Inter"/>
                <a:sym typeface="Inter"/>
              </a:rPr>
              <a:t>SAME</a:t>
            </a:r>
            <a:r>
              <a:rPr lang="en-GB" sz="1200">
                <a:solidFill>
                  <a:srgbClr val="8B8B8B"/>
                </a:solidFill>
                <a:latin typeface="Inter"/>
                <a:ea typeface="Inter"/>
                <a:cs typeface="Inter"/>
                <a:sym typeface="Inter"/>
              </a:rPr>
              <a:t> </a:t>
            </a:r>
            <a:r>
              <a:rPr b="0" i="0" lang="en-GB" sz="1200" u="none" cap="none" strike="noStrike">
                <a:solidFill>
                  <a:srgbClr val="8B8B8B"/>
                </a:solidFill>
                <a:latin typeface="Inter"/>
                <a:ea typeface="Inter"/>
                <a:cs typeface="Inter"/>
                <a:sym typeface="Inter"/>
              </a:rPr>
              <a:t>SLOT REFLEXES</a:t>
            </a:r>
            <a:r>
              <a:rPr lang="en-GB" sz="1200">
                <a:solidFill>
                  <a:srgbClr val="8B8B8B"/>
                </a:solidFill>
                <a:latin typeface="Inter"/>
                <a:ea typeface="Inter"/>
                <a:cs typeface="Inter"/>
                <a:sym typeface="Inter"/>
              </a:rPr>
              <a:t>		</a:t>
            </a:r>
            <a:r>
              <a:rPr b="0" i="0" lang="en-GB" sz="1200" u="none" cap="none" strike="noStrike">
                <a:solidFill>
                  <a:srgbClr val="8B8B8B"/>
                </a:solidFill>
                <a:latin typeface="Inter"/>
                <a:ea typeface="Inter"/>
                <a:cs typeface="Inter"/>
                <a:sym typeface="Inter"/>
              </a:rPr>
              <a:t>ZK COMPRESSION</a:t>
            </a:r>
            <a:endParaRPr b="0" i="0" sz="1200" u="none" cap="none" strike="noStrike">
              <a:solidFill>
                <a:srgbClr val="000000"/>
              </a:solidFill>
              <a:latin typeface="Arial"/>
              <a:ea typeface="Arial"/>
              <a:cs typeface="Arial"/>
              <a:sym typeface="Arial"/>
            </a:endParaRPr>
          </a:p>
        </p:txBody>
      </p:sp>
      <p:pic>
        <p:nvPicPr>
          <p:cNvPr descr="image.png" id="132" name="Google Shape;132;p25"/>
          <p:cNvPicPr preferRelativeResize="0"/>
          <p:nvPr/>
        </p:nvPicPr>
        <p:blipFill rotWithShape="1">
          <a:blip r:embed="rId4">
            <a:alphaModFix/>
          </a:blip>
          <a:srcRect b="0" l="0" r="0" t="0"/>
          <a:stretch/>
        </p:blipFill>
        <p:spPr>
          <a:xfrm>
            <a:off x="277225" y="3917525"/>
            <a:ext cx="161725" cy="161725"/>
          </a:xfrm>
          <a:prstGeom prst="rect">
            <a:avLst/>
          </a:prstGeom>
          <a:noFill/>
          <a:ln>
            <a:noFill/>
          </a:ln>
        </p:spPr>
      </p:pic>
      <p:pic>
        <p:nvPicPr>
          <p:cNvPr descr="image.png" id="133" name="Google Shape;133;p25"/>
          <p:cNvPicPr preferRelativeResize="0"/>
          <p:nvPr/>
        </p:nvPicPr>
        <p:blipFill rotWithShape="1">
          <a:blip r:embed="rId5">
            <a:alphaModFix/>
          </a:blip>
          <a:srcRect b="0" l="0" r="0" t="0"/>
          <a:stretch/>
        </p:blipFill>
        <p:spPr>
          <a:xfrm>
            <a:off x="2597816" y="3923876"/>
            <a:ext cx="141531" cy="161725"/>
          </a:xfrm>
          <a:prstGeom prst="rect">
            <a:avLst/>
          </a:prstGeom>
          <a:noFill/>
          <a:ln>
            <a:noFill/>
          </a:ln>
        </p:spPr>
      </p:pic>
      <p:pic>
        <p:nvPicPr>
          <p:cNvPr descr="image.png" id="134" name="Google Shape;134;p25"/>
          <p:cNvPicPr preferRelativeResize="0"/>
          <p:nvPr/>
        </p:nvPicPr>
        <p:blipFill rotWithShape="1">
          <a:blip r:embed="rId6">
            <a:alphaModFix/>
          </a:blip>
          <a:srcRect b="0" l="0" r="0" t="0"/>
          <a:stretch/>
        </p:blipFill>
        <p:spPr>
          <a:xfrm>
            <a:off x="4874249" y="3917532"/>
            <a:ext cx="141525" cy="161718"/>
          </a:xfrm>
          <a:prstGeom prst="rect">
            <a:avLst/>
          </a:prstGeom>
          <a:noFill/>
          <a:ln>
            <a:noFill/>
          </a:ln>
        </p:spPr>
      </p:pic>
      <p:pic>
        <p:nvPicPr>
          <p:cNvPr id="135" name="Google Shape;135;p25"/>
          <p:cNvPicPr preferRelativeResize="0"/>
          <p:nvPr/>
        </p:nvPicPr>
        <p:blipFill rotWithShape="1">
          <a:blip r:embed="rId7">
            <a:alphaModFix/>
          </a:blip>
          <a:srcRect b="0" l="21274" r="20805" t="0"/>
          <a:stretch/>
        </p:blipFill>
        <p:spPr>
          <a:xfrm>
            <a:off x="1115000" y="1153625"/>
            <a:ext cx="3972823" cy="1701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pic>
        <p:nvPicPr>
          <p:cNvPr id="140" name="Google Shape;140;p26" title="Screenshot 2026-05-09 at 9.10.30 PM.png"/>
          <p:cNvPicPr preferRelativeResize="0"/>
          <p:nvPr/>
        </p:nvPicPr>
        <p:blipFill rotWithShape="1">
          <a:blip r:embed="rId4">
            <a:alphaModFix amt="28000"/>
          </a:blip>
          <a:srcRect b="2544" l="0" r="0" t="0"/>
          <a:stretch/>
        </p:blipFill>
        <p:spPr>
          <a:xfrm>
            <a:off x="2475" y="266300"/>
            <a:ext cx="9144023" cy="4610900"/>
          </a:xfrm>
          <a:prstGeom prst="rect">
            <a:avLst/>
          </a:prstGeom>
          <a:noFill/>
          <a:ln>
            <a:noFill/>
          </a:ln>
        </p:spPr>
      </p:pic>
      <p:sp>
        <p:nvSpPr>
          <p:cNvPr id="141" name="Google Shape;141;p26"/>
          <p:cNvSpPr txBox="1"/>
          <p:nvPr/>
        </p:nvSpPr>
        <p:spPr>
          <a:xfrm>
            <a:off x="1" y="1684750"/>
            <a:ext cx="9144000" cy="538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GB" sz="3400">
                <a:solidFill>
                  <a:srgbClr val="F5F5F5"/>
                </a:solidFill>
                <a:latin typeface="JetBrains Mono"/>
                <a:ea typeface="JetBrains Mono"/>
                <a:cs typeface="JetBrains Mono"/>
                <a:sym typeface="JetBrains Mono"/>
              </a:rPr>
              <a:t>YOU </a:t>
            </a:r>
            <a:r>
              <a:rPr b="1" lang="en-GB" sz="2300">
                <a:solidFill>
                  <a:srgbClr val="F5F5F5"/>
                </a:solidFill>
                <a:latin typeface="JetBrains Mono"/>
                <a:ea typeface="JetBrains Mono"/>
                <a:cs typeface="JetBrains Mono"/>
                <a:sym typeface="JetBrains Mono"/>
              </a:rPr>
              <a:t>COULD ALSO BE THE NEXT </a:t>
            </a:r>
            <a:r>
              <a:rPr b="1" lang="en-GB" sz="3300">
                <a:solidFill>
                  <a:srgbClr val="FF0000"/>
                </a:solidFill>
                <a:latin typeface="JetBrains Mono"/>
                <a:ea typeface="JetBrains Mono"/>
                <a:cs typeface="JetBrains Mono"/>
                <a:sym typeface="JetBrains Mono"/>
              </a:rPr>
              <a:t>VICTIM</a:t>
            </a:r>
            <a:r>
              <a:rPr b="1" lang="en-GB" sz="2300">
                <a:solidFill>
                  <a:srgbClr val="F5F5F5"/>
                </a:solidFill>
                <a:latin typeface="JetBrains Mono"/>
                <a:ea typeface="JetBrains Mono"/>
                <a:cs typeface="JetBrains Mono"/>
                <a:sym typeface="JetBrains Mono"/>
              </a:rPr>
              <a:t>. </a:t>
            </a:r>
            <a:endParaRPr sz="1100">
              <a:solidFill>
                <a:schemeClr val="dk1"/>
              </a:solidFill>
            </a:endParaRPr>
          </a:p>
        </p:txBody>
      </p:sp>
      <p:sp>
        <p:nvSpPr>
          <p:cNvPr id="142" name="Google Shape;142;p26"/>
          <p:cNvSpPr txBox="1"/>
          <p:nvPr/>
        </p:nvSpPr>
        <p:spPr>
          <a:xfrm>
            <a:off x="2" y="2580500"/>
            <a:ext cx="9144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700">
                <a:solidFill>
                  <a:srgbClr val="FF0000"/>
                </a:solidFill>
                <a:latin typeface="JetBrains Mono"/>
                <a:ea typeface="JetBrains Mono"/>
                <a:cs typeface="JetBrains Mono"/>
                <a:sym typeface="JetBrains Mono"/>
              </a:rPr>
              <a:t>EVERYTHING LOST</a:t>
            </a:r>
            <a:r>
              <a:rPr b="1" lang="en-GB" sz="1700">
                <a:solidFill>
                  <a:schemeClr val="lt1"/>
                </a:solidFill>
                <a:latin typeface="JetBrains Mono"/>
                <a:ea typeface="JetBrains Mono"/>
                <a:cs typeface="JetBrains Mono"/>
                <a:sym typeface="JetBrains Mono"/>
              </a:rPr>
              <a:t>.</a:t>
            </a:r>
            <a:r>
              <a:rPr b="1" lang="en-GB" sz="1700">
                <a:solidFill>
                  <a:srgbClr val="FF0000"/>
                </a:solidFill>
                <a:latin typeface="JetBrains Mono"/>
                <a:ea typeface="JetBrains Mono"/>
                <a:cs typeface="JetBrains Mono"/>
                <a:sym typeface="JetBrains Mono"/>
              </a:rPr>
              <a:t> UNANSWERED</a:t>
            </a:r>
            <a:r>
              <a:rPr b="1" lang="en-GB" sz="1700">
                <a:solidFill>
                  <a:schemeClr val="lt1"/>
                </a:solidFill>
                <a:latin typeface="JetBrains Mono"/>
                <a:ea typeface="JetBrains Mono"/>
                <a:cs typeface="JetBrains Mono"/>
                <a:sym typeface="JetBrains Mono"/>
              </a:rPr>
              <a:t>.</a:t>
            </a:r>
            <a:r>
              <a:rPr b="1" lang="en-GB" sz="1700">
                <a:solidFill>
                  <a:srgbClr val="F5F5F5"/>
                </a:solidFill>
                <a:latin typeface="JetBrains Mono"/>
                <a:ea typeface="JetBrains Mono"/>
                <a:cs typeface="JetBrains Mono"/>
                <a:sym typeface="JetBrains Mono"/>
              </a:rPr>
              <a:t> </a:t>
            </a:r>
            <a:endParaRPr sz="500">
              <a:solidFill>
                <a:schemeClr val="dk1"/>
              </a:solidFill>
            </a:endParaRPr>
          </a:p>
        </p:txBody>
      </p:sp>
      <p:sp>
        <p:nvSpPr>
          <p:cNvPr id="143" name="Google Shape;143;p26"/>
          <p:cNvSpPr txBox="1"/>
          <p:nvPr/>
        </p:nvSpPr>
        <p:spPr>
          <a:xfrm>
            <a:off x="0" y="3384525"/>
            <a:ext cx="9144000" cy="50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2100">
                <a:solidFill>
                  <a:srgbClr val="FF0000"/>
                </a:solidFill>
                <a:latin typeface="JetBrains Mono"/>
                <a:ea typeface="JetBrains Mono"/>
                <a:cs typeface="JetBrains Mono"/>
                <a:sym typeface="JetBrains Mono"/>
              </a:rPr>
              <a:t>DRAINED</a:t>
            </a:r>
            <a:r>
              <a:rPr b="1" lang="en-GB" sz="2100">
                <a:solidFill>
                  <a:srgbClr val="F5F5F5"/>
                </a:solidFill>
                <a:latin typeface="JetBrains Mono"/>
                <a:ea typeface="JetBrains Mono"/>
                <a:cs typeface="JetBrains Mono"/>
                <a:sym typeface="JetBrains Mono"/>
              </a:rPr>
              <a:t>. </a:t>
            </a:r>
            <a:r>
              <a:rPr b="1" lang="en-GB" sz="2100">
                <a:solidFill>
                  <a:srgbClr val="FF0000"/>
                </a:solidFill>
                <a:latin typeface="JetBrains Mono"/>
                <a:ea typeface="JetBrains Mono"/>
                <a:cs typeface="JetBrains Mono"/>
                <a:sym typeface="JetBrains Mono"/>
              </a:rPr>
              <a:t>DISCONNECTED</a:t>
            </a:r>
            <a:r>
              <a:rPr b="1" lang="en-GB" sz="2100">
                <a:solidFill>
                  <a:srgbClr val="F5F5F5"/>
                </a:solidFill>
                <a:latin typeface="JetBrains Mono"/>
                <a:ea typeface="JetBrains Mono"/>
                <a:cs typeface="JetBrains Mono"/>
                <a:sym typeface="JetBrains Mono"/>
              </a:rPr>
              <a:t>. </a:t>
            </a:r>
            <a:r>
              <a:rPr b="1" lang="en-GB" sz="2100">
                <a:solidFill>
                  <a:srgbClr val="FF0000"/>
                </a:solidFill>
                <a:latin typeface="JetBrains Mono"/>
                <a:ea typeface="JetBrains Mono"/>
                <a:cs typeface="JetBrains Mono"/>
                <a:sym typeface="JetBrains Mono"/>
              </a:rPr>
              <a:t>TOTAL SILENCE</a:t>
            </a:r>
            <a:r>
              <a:rPr b="1" lang="en-GB" sz="2100">
                <a:solidFill>
                  <a:srgbClr val="F5F5F5"/>
                </a:solidFill>
                <a:latin typeface="JetBrains Mono"/>
                <a:ea typeface="JetBrains Mono"/>
                <a:cs typeface="JetBrains Mono"/>
                <a:sym typeface="JetBrains Mono"/>
              </a:rPr>
              <a:t>.</a:t>
            </a:r>
            <a:endParaRPr sz="900">
              <a:solidFill>
                <a:schemeClr val="dk1"/>
              </a:solidFill>
            </a:endParaRPr>
          </a:p>
        </p:txBody>
      </p:sp>
      <p:pic>
        <p:nvPicPr>
          <p:cNvPr id="144" name="Google Shape;144;p26"/>
          <p:cNvPicPr preferRelativeResize="0"/>
          <p:nvPr/>
        </p:nvPicPr>
        <p:blipFill rotWithShape="1">
          <a:blip r:embed="rId5">
            <a:alphaModFix/>
          </a:blip>
          <a:srcRect b="0" l="0" r="0" t="0"/>
          <a:stretch/>
        </p:blipFill>
        <p:spPr>
          <a:xfrm>
            <a:off x="367812" y="4670388"/>
            <a:ext cx="1650929" cy="409500"/>
          </a:xfrm>
          <a:prstGeom prst="rect">
            <a:avLst/>
          </a:prstGeom>
          <a:noFill/>
          <a:ln>
            <a:noFill/>
          </a:ln>
        </p:spPr>
      </p:pic>
      <p:sp>
        <p:nvSpPr>
          <p:cNvPr id="145" name="Google Shape;145;p26"/>
          <p:cNvSpPr txBox="1"/>
          <p:nvPr/>
        </p:nvSpPr>
        <p:spPr>
          <a:xfrm>
            <a:off x="-5190" y="834850"/>
            <a:ext cx="9144000" cy="6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2600">
                <a:solidFill>
                  <a:srgbClr val="F5F5F5"/>
                </a:solidFill>
                <a:latin typeface="JetBrains Mono"/>
                <a:ea typeface="JetBrains Mono"/>
                <a:cs typeface="JetBrains Mono"/>
                <a:sym typeface="JetBrains Mono"/>
              </a:rPr>
              <a:t> IF IT HAPPENED TO </a:t>
            </a:r>
            <a:r>
              <a:rPr b="1" lang="en-GB" sz="3100">
                <a:solidFill>
                  <a:srgbClr val="FF0000"/>
                </a:solidFill>
                <a:latin typeface="JetBrains Mono"/>
                <a:ea typeface="JetBrains Mono"/>
                <a:cs typeface="JetBrains Mono"/>
                <a:sym typeface="JetBrains Mono"/>
              </a:rPr>
              <a:t>ME!!!</a:t>
            </a:r>
            <a:endParaRPr sz="1900">
              <a:solidFill>
                <a:srgbClr val="FF0000"/>
              </a:solidFill>
            </a:endParaRPr>
          </a:p>
        </p:txBody>
      </p:sp>
    </p:spTree>
  </p:cSld>
  <p:clrMapOvr>
    <a:masterClrMapping/>
  </p:clrMapOvr>
  <mc:AlternateContent>
    <mc:Choice Requires="p14">
      <p:transition p14:dur="20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49" name="Shape 149"/>
        <p:cNvGrpSpPr/>
        <p:nvPr/>
      </p:nvGrpSpPr>
      <p:grpSpPr>
        <a:xfrm>
          <a:off x="0" y="0"/>
          <a:ext cx="0" cy="0"/>
          <a:chOff x="0" y="0"/>
          <a:chExt cx="0" cy="0"/>
        </a:xfrm>
      </p:grpSpPr>
      <p:pic>
        <p:nvPicPr>
          <p:cNvPr descr="image.png" id="150" name="Google Shape;150;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1" name="Google Shape;151;p27"/>
          <p:cNvSpPr txBox="1"/>
          <p:nvPr/>
        </p:nvSpPr>
        <p:spPr>
          <a:xfrm>
            <a:off x="721519" y="857250"/>
            <a:ext cx="3442930" cy="3786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rgbClr val="F5F5F5"/>
                </a:solidFill>
                <a:latin typeface="JetBrains Mono"/>
                <a:ea typeface="JetBrains Mono"/>
                <a:cs typeface="JetBrains Mono"/>
                <a:sym typeface="JetBrains Mono"/>
              </a:rPr>
              <a:t>THE PROBLEM</a:t>
            </a:r>
            <a:endParaRPr b="0" i="0" sz="1100" u="none" cap="none" strike="noStrike">
              <a:solidFill>
                <a:srgbClr val="000000"/>
              </a:solidFill>
              <a:latin typeface="Arial"/>
              <a:ea typeface="Arial"/>
              <a:cs typeface="Arial"/>
              <a:sym typeface="Arial"/>
            </a:endParaRPr>
          </a:p>
        </p:txBody>
      </p:sp>
      <p:sp>
        <p:nvSpPr>
          <p:cNvPr id="152" name="Google Shape;152;p27"/>
          <p:cNvSpPr/>
          <p:nvPr/>
        </p:nvSpPr>
        <p:spPr>
          <a:xfrm>
            <a:off x="578644" y="857250"/>
            <a:ext cx="42863" cy="378619"/>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3" name="Google Shape;153;p27"/>
          <p:cNvSpPr txBox="1"/>
          <p:nvPr/>
        </p:nvSpPr>
        <p:spPr>
          <a:xfrm>
            <a:off x="578644" y="1521619"/>
            <a:ext cx="3421856"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700"/>
              <a:buFont typeface="Arial"/>
              <a:buNone/>
            </a:pPr>
            <a:r>
              <a:rPr b="1" i="0" lang="en-GB" sz="2700" u="none" cap="none" strike="noStrike">
                <a:solidFill>
                  <a:srgbClr val="EF4444"/>
                </a:solidFill>
                <a:latin typeface="Inter"/>
                <a:ea typeface="Inter"/>
                <a:cs typeface="Inter"/>
                <a:sym typeface="Inter"/>
              </a:rPr>
              <a:t>$1.8B LOST</a:t>
            </a:r>
            <a:endParaRPr b="0" i="0" sz="1100" u="none" cap="none" strike="noStrike">
              <a:solidFill>
                <a:srgbClr val="000000"/>
              </a:solidFill>
              <a:latin typeface="Arial"/>
              <a:ea typeface="Arial"/>
              <a:cs typeface="Arial"/>
              <a:sym typeface="Arial"/>
            </a:endParaRPr>
          </a:p>
        </p:txBody>
      </p:sp>
      <p:sp>
        <p:nvSpPr>
          <p:cNvPr id="154" name="Google Shape;154;p27"/>
          <p:cNvSpPr txBox="1"/>
          <p:nvPr/>
        </p:nvSpPr>
        <p:spPr>
          <a:xfrm>
            <a:off x="578644" y="2178844"/>
            <a:ext cx="3421856" cy="64293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100"/>
              <a:buFont typeface="Arial"/>
              <a:buNone/>
            </a:pPr>
            <a:r>
              <a:rPr b="0" i="0" lang="en-GB" sz="1100" u="none" cap="none" strike="noStrike">
                <a:solidFill>
                  <a:srgbClr val="F5F5F5"/>
                </a:solidFill>
                <a:latin typeface="Inter"/>
                <a:ea typeface="Inter"/>
                <a:cs typeface="Inter"/>
                <a:sym typeface="Inter"/>
              </a:rPr>
              <a:t>In 2025, LLM-linked crypto exploits reached a breaking point. AI agents are inherently prone to hallucinations:</a:t>
            </a:r>
            <a:endParaRPr b="0" i="0" sz="1100" u="none" cap="none" strike="noStrike">
              <a:solidFill>
                <a:srgbClr val="000000"/>
              </a:solidFill>
              <a:latin typeface="Arial"/>
              <a:ea typeface="Arial"/>
              <a:cs typeface="Arial"/>
              <a:sym typeface="Arial"/>
            </a:endParaRPr>
          </a:p>
        </p:txBody>
      </p:sp>
      <p:sp>
        <p:nvSpPr>
          <p:cNvPr id="155" name="Google Shape;155;p27"/>
          <p:cNvSpPr txBox="1"/>
          <p:nvPr/>
        </p:nvSpPr>
        <p:spPr>
          <a:xfrm>
            <a:off x="578644" y="4071938"/>
            <a:ext cx="3421856" cy="214313"/>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100"/>
              <a:buFont typeface="Arial"/>
              <a:buNone/>
            </a:pPr>
            <a:r>
              <a:rPr b="0" i="0" lang="en-GB" sz="1100" u="none" cap="none" strike="noStrike">
                <a:solidFill>
                  <a:srgbClr val="F5F5F5"/>
                </a:solidFill>
                <a:latin typeface="Inter"/>
                <a:ea typeface="Inter"/>
                <a:cs typeface="Inter"/>
                <a:sym typeface="Inter"/>
              </a:rPr>
              <a:t>Blockchain is final. There is no undo. Until SAK-1.</a:t>
            </a:r>
            <a:endParaRPr b="0" i="0" sz="1100" u="none" cap="none" strike="noStrike">
              <a:solidFill>
                <a:srgbClr val="000000"/>
              </a:solidFill>
              <a:latin typeface="Arial"/>
              <a:ea typeface="Arial"/>
              <a:cs typeface="Arial"/>
              <a:sym typeface="Arial"/>
            </a:endParaRPr>
          </a:p>
        </p:txBody>
      </p:sp>
      <p:sp>
        <p:nvSpPr>
          <p:cNvPr id="156" name="Google Shape;156;p27"/>
          <p:cNvSpPr txBox="1"/>
          <p:nvPr/>
        </p:nvSpPr>
        <p:spPr>
          <a:xfrm>
            <a:off x="578644" y="2964656"/>
            <a:ext cx="3421856" cy="214313"/>
          </a:xfrm>
          <a:prstGeom prst="rect">
            <a:avLst/>
          </a:prstGeom>
          <a:noFill/>
          <a:ln>
            <a:noFill/>
          </a:ln>
        </p:spPr>
        <p:txBody>
          <a:bodyPr anchorCtr="0" anchor="t" bIns="0" lIns="214325" spcFirstLastPara="1" rIns="0" wrap="square" tIns="0">
            <a:spAutoFit/>
          </a:bodyPr>
          <a:lstStyle/>
          <a:p>
            <a:pPr indent="0" lvl="0" marL="0" marR="0" rtl="0" algn="l">
              <a:lnSpc>
                <a:spcPct val="150000"/>
              </a:lnSpc>
              <a:spcBef>
                <a:spcPts val="0"/>
              </a:spcBef>
              <a:spcAft>
                <a:spcPts val="0"/>
              </a:spcAft>
              <a:buClr>
                <a:srgbClr val="000000"/>
              </a:buClr>
              <a:buSzPts val="1100"/>
              <a:buFont typeface="Arial"/>
              <a:buNone/>
            </a:pPr>
            <a:r>
              <a:rPr b="0" i="0" lang="en-GB" sz="1100" u="none" cap="none" strike="noStrike">
                <a:solidFill>
                  <a:srgbClr val="8B8B8B"/>
                </a:solidFill>
                <a:latin typeface="Inter"/>
                <a:ea typeface="Inter"/>
                <a:cs typeface="Inter"/>
                <a:sym typeface="Inter"/>
              </a:rPr>
              <a:t>99% Slippage Hallucinations</a:t>
            </a:r>
            <a:endParaRPr b="0" i="0" sz="1100" u="none" cap="none" strike="noStrike">
              <a:solidFill>
                <a:srgbClr val="000000"/>
              </a:solidFill>
              <a:latin typeface="Arial"/>
              <a:ea typeface="Arial"/>
              <a:cs typeface="Arial"/>
              <a:sym typeface="Arial"/>
            </a:endParaRPr>
          </a:p>
        </p:txBody>
      </p:sp>
      <p:sp>
        <p:nvSpPr>
          <p:cNvPr id="157" name="Google Shape;157;p27"/>
          <p:cNvSpPr txBox="1"/>
          <p:nvPr/>
        </p:nvSpPr>
        <p:spPr>
          <a:xfrm>
            <a:off x="578644" y="3286125"/>
            <a:ext cx="3421856" cy="214313"/>
          </a:xfrm>
          <a:prstGeom prst="rect">
            <a:avLst/>
          </a:prstGeom>
          <a:noFill/>
          <a:ln>
            <a:noFill/>
          </a:ln>
        </p:spPr>
        <p:txBody>
          <a:bodyPr anchorCtr="0" anchor="t" bIns="0" lIns="214325" spcFirstLastPara="1" rIns="0" wrap="square" tIns="0">
            <a:spAutoFit/>
          </a:bodyPr>
          <a:lstStyle/>
          <a:p>
            <a:pPr indent="0" lvl="0" marL="0" marR="0" rtl="0" algn="l">
              <a:lnSpc>
                <a:spcPct val="150000"/>
              </a:lnSpc>
              <a:spcBef>
                <a:spcPts val="0"/>
              </a:spcBef>
              <a:spcAft>
                <a:spcPts val="0"/>
              </a:spcAft>
              <a:buClr>
                <a:srgbClr val="000000"/>
              </a:buClr>
              <a:buSzPts val="1100"/>
              <a:buFont typeface="Arial"/>
              <a:buNone/>
            </a:pPr>
            <a:r>
              <a:rPr b="0" i="0" lang="en-GB" sz="1100" u="none" cap="none" strike="noStrike">
                <a:solidFill>
                  <a:srgbClr val="8B8B8B"/>
                </a:solidFill>
                <a:latin typeface="Inter"/>
                <a:ea typeface="Inter"/>
                <a:cs typeface="Inter"/>
                <a:sym typeface="Inter"/>
              </a:rPr>
              <a:t>Malicious Account Drains</a:t>
            </a:r>
            <a:endParaRPr b="0" i="0" sz="1100" u="none" cap="none" strike="noStrike">
              <a:solidFill>
                <a:srgbClr val="000000"/>
              </a:solidFill>
              <a:latin typeface="Arial"/>
              <a:ea typeface="Arial"/>
              <a:cs typeface="Arial"/>
              <a:sym typeface="Arial"/>
            </a:endParaRPr>
          </a:p>
        </p:txBody>
      </p:sp>
      <p:sp>
        <p:nvSpPr>
          <p:cNvPr id="158" name="Google Shape;158;p27"/>
          <p:cNvSpPr txBox="1"/>
          <p:nvPr/>
        </p:nvSpPr>
        <p:spPr>
          <a:xfrm>
            <a:off x="578644" y="3607594"/>
            <a:ext cx="3421856" cy="214313"/>
          </a:xfrm>
          <a:prstGeom prst="rect">
            <a:avLst/>
          </a:prstGeom>
          <a:noFill/>
          <a:ln>
            <a:noFill/>
          </a:ln>
        </p:spPr>
        <p:txBody>
          <a:bodyPr anchorCtr="0" anchor="t" bIns="0" lIns="214325" spcFirstLastPara="1" rIns="0" wrap="square" tIns="0">
            <a:spAutoFit/>
          </a:bodyPr>
          <a:lstStyle/>
          <a:p>
            <a:pPr indent="0" lvl="0" marL="0" marR="0" rtl="0" algn="l">
              <a:lnSpc>
                <a:spcPct val="150000"/>
              </a:lnSpc>
              <a:spcBef>
                <a:spcPts val="0"/>
              </a:spcBef>
              <a:spcAft>
                <a:spcPts val="0"/>
              </a:spcAft>
              <a:buClr>
                <a:srgbClr val="000000"/>
              </a:buClr>
              <a:buSzPts val="1100"/>
              <a:buFont typeface="Arial"/>
              <a:buNone/>
            </a:pPr>
            <a:r>
              <a:rPr b="0" i="0" lang="en-GB" sz="1100" u="none" cap="none" strike="noStrike">
                <a:solidFill>
                  <a:srgbClr val="8B8B8B"/>
                </a:solidFill>
                <a:latin typeface="Inter"/>
                <a:ea typeface="Inter"/>
                <a:cs typeface="Inter"/>
                <a:sym typeface="Inter"/>
              </a:rPr>
              <a:t>Unauthorized Program Invocations</a:t>
            </a:r>
            <a:endParaRPr b="0" i="0" sz="1100" u="none" cap="none" strike="noStrike">
              <a:solidFill>
                <a:srgbClr val="000000"/>
              </a:solidFill>
              <a:latin typeface="Arial"/>
              <a:ea typeface="Arial"/>
              <a:cs typeface="Arial"/>
              <a:sym typeface="Arial"/>
            </a:endParaRPr>
          </a:p>
        </p:txBody>
      </p:sp>
      <p:pic>
        <p:nvPicPr>
          <p:cNvPr descr="image.png" id="159" name="Google Shape;159;p27"/>
          <p:cNvPicPr preferRelativeResize="0"/>
          <p:nvPr/>
        </p:nvPicPr>
        <p:blipFill rotWithShape="1">
          <a:blip r:embed="rId4">
            <a:alphaModFix/>
          </a:blip>
          <a:srcRect b="0" l="0" r="0" t="0"/>
          <a:stretch/>
        </p:blipFill>
        <p:spPr>
          <a:xfrm>
            <a:off x="578644" y="2996803"/>
            <a:ext cx="142875" cy="150019"/>
          </a:xfrm>
          <a:prstGeom prst="rect">
            <a:avLst/>
          </a:prstGeom>
          <a:noFill/>
          <a:ln>
            <a:noFill/>
          </a:ln>
        </p:spPr>
      </p:pic>
      <p:pic>
        <p:nvPicPr>
          <p:cNvPr descr="image.png" id="160" name="Google Shape;160;p27"/>
          <p:cNvPicPr preferRelativeResize="0"/>
          <p:nvPr/>
        </p:nvPicPr>
        <p:blipFill rotWithShape="1">
          <a:blip r:embed="rId4">
            <a:alphaModFix/>
          </a:blip>
          <a:srcRect b="0" l="0" r="0" t="0"/>
          <a:stretch/>
        </p:blipFill>
        <p:spPr>
          <a:xfrm>
            <a:off x="578644" y="3318272"/>
            <a:ext cx="142875" cy="150019"/>
          </a:xfrm>
          <a:prstGeom prst="rect">
            <a:avLst/>
          </a:prstGeom>
          <a:noFill/>
          <a:ln>
            <a:noFill/>
          </a:ln>
        </p:spPr>
      </p:pic>
      <p:pic>
        <p:nvPicPr>
          <p:cNvPr descr="image.png" id="161" name="Google Shape;161;p27"/>
          <p:cNvPicPr preferRelativeResize="0"/>
          <p:nvPr/>
        </p:nvPicPr>
        <p:blipFill rotWithShape="1">
          <a:blip r:embed="rId4">
            <a:alphaModFix/>
          </a:blip>
          <a:srcRect b="0" l="0" r="0" t="0"/>
          <a:stretch/>
        </p:blipFill>
        <p:spPr>
          <a:xfrm>
            <a:off x="578644" y="3639740"/>
            <a:ext cx="142875" cy="150019"/>
          </a:xfrm>
          <a:prstGeom prst="rect">
            <a:avLst/>
          </a:prstGeom>
          <a:noFill/>
          <a:ln>
            <a:noFill/>
          </a:ln>
        </p:spPr>
      </p:pic>
      <p:pic>
        <p:nvPicPr>
          <p:cNvPr id="162" name="Google Shape;162;p27"/>
          <p:cNvPicPr preferRelativeResize="0"/>
          <p:nvPr/>
        </p:nvPicPr>
        <p:blipFill>
          <a:blip r:embed="rId5">
            <a:alphaModFix/>
          </a:blip>
          <a:stretch>
            <a:fillRect/>
          </a:stretch>
        </p:blipFill>
        <p:spPr>
          <a:xfrm>
            <a:off x="5062300" y="-28550"/>
            <a:ext cx="3700701" cy="2908349"/>
          </a:xfrm>
          <a:prstGeom prst="rect">
            <a:avLst/>
          </a:prstGeom>
          <a:noFill/>
          <a:ln>
            <a:noFill/>
          </a:ln>
        </p:spPr>
      </p:pic>
      <p:pic>
        <p:nvPicPr>
          <p:cNvPr id="163" name="Google Shape;163;p27"/>
          <p:cNvPicPr preferRelativeResize="0"/>
          <p:nvPr/>
        </p:nvPicPr>
        <p:blipFill>
          <a:blip r:embed="rId6">
            <a:alphaModFix/>
          </a:blip>
          <a:stretch>
            <a:fillRect/>
          </a:stretch>
        </p:blipFill>
        <p:spPr>
          <a:xfrm>
            <a:off x="102125" y="110425"/>
            <a:ext cx="4681719" cy="2337099"/>
          </a:xfrm>
          <a:prstGeom prst="rect">
            <a:avLst/>
          </a:prstGeom>
          <a:noFill/>
          <a:ln>
            <a:noFill/>
          </a:ln>
        </p:spPr>
      </p:pic>
      <p:pic>
        <p:nvPicPr>
          <p:cNvPr id="164" name="Google Shape;164;p27"/>
          <p:cNvPicPr preferRelativeResize="0"/>
          <p:nvPr/>
        </p:nvPicPr>
        <p:blipFill>
          <a:blip r:embed="rId7">
            <a:alphaModFix/>
          </a:blip>
          <a:stretch>
            <a:fillRect/>
          </a:stretch>
        </p:blipFill>
        <p:spPr>
          <a:xfrm>
            <a:off x="2737323" y="2879799"/>
            <a:ext cx="3975603" cy="2011099"/>
          </a:xfrm>
          <a:prstGeom prst="rect">
            <a:avLst/>
          </a:prstGeom>
          <a:noFill/>
          <a:ln>
            <a:noFill/>
          </a:ln>
        </p:spPr>
      </p:pic>
      <p:pic>
        <p:nvPicPr>
          <p:cNvPr id="165" name="Google Shape;165;p27"/>
          <p:cNvPicPr preferRelativeResize="0"/>
          <p:nvPr/>
        </p:nvPicPr>
        <p:blipFill>
          <a:blip r:embed="rId8">
            <a:alphaModFix/>
          </a:blip>
          <a:stretch>
            <a:fillRect/>
          </a:stretch>
        </p:blipFill>
        <p:spPr>
          <a:xfrm>
            <a:off x="0" y="3096023"/>
            <a:ext cx="3106516" cy="2047474"/>
          </a:xfrm>
          <a:prstGeom prst="rect">
            <a:avLst/>
          </a:prstGeom>
          <a:noFill/>
          <a:ln>
            <a:noFill/>
          </a:ln>
        </p:spPr>
      </p:pic>
      <p:pic>
        <p:nvPicPr>
          <p:cNvPr id="166" name="Google Shape;166;p27" title="Screenshot 2026-05-09 at 9.36.04 AM.png"/>
          <p:cNvPicPr preferRelativeResize="0"/>
          <p:nvPr/>
        </p:nvPicPr>
        <p:blipFill rotWithShape="1">
          <a:blip r:embed="rId9">
            <a:alphaModFix/>
          </a:blip>
          <a:srcRect b="0" l="25249" r="25254" t="0"/>
          <a:stretch/>
        </p:blipFill>
        <p:spPr>
          <a:xfrm>
            <a:off x="6508825" y="2375000"/>
            <a:ext cx="2635177" cy="2768499"/>
          </a:xfrm>
          <a:prstGeom prst="rect">
            <a:avLst/>
          </a:prstGeom>
          <a:noFill/>
          <a:ln>
            <a:noFill/>
          </a:ln>
        </p:spPr>
      </p:pic>
      <p:pic>
        <p:nvPicPr>
          <p:cNvPr id="167" name="Google Shape;167;p27"/>
          <p:cNvPicPr preferRelativeResize="0"/>
          <p:nvPr/>
        </p:nvPicPr>
        <p:blipFill rotWithShape="1">
          <a:blip r:embed="rId10">
            <a:alphaModFix/>
          </a:blip>
          <a:srcRect b="0" l="0" r="0" t="0"/>
          <a:stretch/>
        </p:blipFill>
        <p:spPr>
          <a:xfrm>
            <a:off x="359050" y="4661625"/>
            <a:ext cx="1650929" cy="40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pic>
        <p:nvPicPr>
          <p:cNvPr id="172" name="Google Shape;172;p28" title="Screenshot 2026-05-09 at 9.10.30 PM.png"/>
          <p:cNvPicPr preferRelativeResize="0"/>
          <p:nvPr/>
        </p:nvPicPr>
        <p:blipFill rotWithShape="1">
          <a:blip r:embed="rId4">
            <a:alphaModFix amt="18000"/>
          </a:blip>
          <a:srcRect b="2544" l="0" r="0" t="0"/>
          <a:stretch/>
        </p:blipFill>
        <p:spPr>
          <a:xfrm>
            <a:off x="-1" y="219899"/>
            <a:ext cx="9144003" cy="4703701"/>
          </a:xfrm>
          <a:prstGeom prst="rect">
            <a:avLst/>
          </a:prstGeom>
          <a:noFill/>
          <a:ln>
            <a:noFill/>
          </a:ln>
        </p:spPr>
      </p:pic>
      <p:sp>
        <p:nvSpPr>
          <p:cNvPr id="173" name="Google Shape;173;p28"/>
          <p:cNvSpPr txBox="1"/>
          <p:nvPr/>
        </p:nvSpPr>
        <p:spPr>
          <a:xfrm>
            <a:off x="303904" y="1699865"/>
            <a:ext cx="8536200" cy="631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2300"/>
              <a:buFont typeface="Arial"/>
              <a:buNone/>
            </a:pPr>
            <a:r>
              <a:rPr b="1" lang="en-GB" sz="4100">
                <a:solidFill>
                  <a:srgbClr val="EF4444"/>
                </a:solidFill>
                <a:latin typeface="JetBrains Mono"/>
                <a:ea typeface="JetBrains Mono"/>
                <a:cs typeface="JetBrains Mono"/>
                <a:sym typeface="JetBrains Mono"/>
              </a:rPr>
              <a:t>THE $1.8 BILLION  GAP</a:t>
            </a:r>
            <a:endParaRPr b="1" sz="4100">
              <a:solidFill>
                <a:srgbClr val="EF4444"/>
              </a:solidFill>
              <a:latin typeface="JetBrains Mono"/>
              <a:ea typeface="JetBrains Mono"/>
              <a:cs typeface="JetBrains Mono"/>
              <a:sym typeface="JetBrains Mono"/>
            </a:endParaRPr>
          </a:p>
        </p:txBody>
      </p:sp>
      <p:sp>
        <p:nvSpPr>
          <p:cNvPr id="174" name="Google Shape;174;p28"/>
          <p:cNvSpPr txBox="1"/>
          <p:nvPr/>
        </p:nvSpPr>
        <p:spPr>
          <a:xfrm>
            <a:off x="1055100" y="2960650"/>
            <a:ext cx="7033800" cy="261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2300"/>
              <a:buFont typeface="Arial"/>
              <a:buNone/>
            </a:pPr>
            <a:r>
              <a:rPr lang="en-GB" sz="1700">
                <a:solidFill>
                  <a:srgbClr val="FFFFFF"/>
                </a:solidFill>
                <a:latin typeface="JetBrains Mono"/>
                <a:ea typeface="JetBrains Mono"/>
                <a:cs typeface="JetBrains Mono"/>
                <a:sym typeface="JetBrains Mono"/>
              </a:rPr>
              <a:t>llms tend-&gt; to </a:t>
            </a:r>
            <a:r>
              <a:rPr lang="en-GB" sz="1700">
                <a:solidFill>
                  <a:srgbClr val="FFFFFF"/>
                </a:solidFill>
                <a:latin typeface="JetBrains Mono"/>
                <a:ea typeface="JetBrains Mono"/>
                <a:cs typeface="JetBrains Mono"/>
                <a:sym typeface="JetBrains Mono"/>
              </a:rPr>
              <a:t>hallucinate. wallets are being drained. </a:t>
            </a:r>
            <a:endParaRPr sz="1700">
              <a:solidFill>
                <a:srgbClr val="F5F5F5"/>
              </a:solidFill>
              <a:latin typeface="JetBrains Mono"/>
              <a:ea typeface="JetBrains Mono"/>
              <a:cs typeface="JetBrains Mono"/>
              <a:sym typeface="JetBrains Mono"/>
            </a:endParaRPr>
          </a:p>
        </p:txBody>
      </p:sp>
      <p:cxnSp>
        <p:nvCxnSpPr>
          <p:cNvPr id="175" name="Google Shape;175;p28"/>
          <p:cNvCxnSpPr/>
          <p:nvPr/>
        </p:nvCxnSpPr>
        <p:spPr>
          <a:xfrm>
            <a:off x="3607950" y="2437760"/>
            <a:ext cx="1928100" cy="7800"/>
          </a:xfrm>
          <a:prstGeom prst="straightConnector1">
            <a:avLst/>
          </a:prstGeom>
          <a:noFill/>
          <a:ln cap="flat" cmpd="sng" w="38100">
            <a:solidFill>
              <a:srgbClr val="EF4444"/>
            </a:solidFill>
            <a:prstDash val="solid"/>
            <a:round/>
            <a:headEnd len="med" w="med" type="none"/>
            <a:tailEnd len="med" w="med" type="none"/>
          </a:ln>
        </p:spPr>
      </p:cxnSp>
      <p:pic>
        <p:nvPicPr>
          <p:cNvPr id="176" name="Google Shape;176;p28"/>
          <p:cNvPicPr preferRelativeResize="0"/>
          <p:nvPr/>
        </p:nvPicPr>
        <p:blipFill rotWithShape="1">
          <a:blip r:embed="rId5">
            <a:alphaModFix/>
          </a:blip>
          <a:srcRect b="0" l="0" r="0" t="0"/>
          <a:stretch/>
        </p:blipFill>
        <p:spPr>
          <a:xfrm>
            <a:off x="359050" y="4661625"/>
            <a:ext cx="1650929" cy="409500"/>
          </a:xfrm>
          <a:prstGeom prst="rect">
            <a:avLst/>
          </a:prstGeom>
          <a:noFill/>
          <a:ln>
            <a:noFill/>
          </a:ln>
        </p:spPr>
      </p:pic>
      <p:sp>
        <p:nvSpPr>
          <p:cNvPr id="177" name="Google Shape;177;p28"/>
          <p:cNvSpPr txBox="1"/>
          <p:nvPr/>
        </p:nvSpPr>
        <p:spPr>
          <a:xfrm>
            <a:off x="1246225" y="3497910"/>
            <a:ext cx="6830400" cy="246300"/>
          </a:xfrm>
          <a:prstGeom prst="rect">
            <a:avLst/>
          </a:prstGeom>
          <a:noFill/>
          <a:ln>
            <a:noFill/>
          </a:ln>
        </p:spPr>
        <p:txBody>
          <a:bodyPr anchorCtr="0" anchor="t" bIns="0" lIns="0" spcFirstLastPara="1" rIns="0" wrap="square" tIns="0">
            <a:spAutoFit/>
          </a:bodyPr>
          <a:lstStyle/>
          <a:p>
            <a:pPr indent="0" lvl="0" marL="0" rtl="0" algn="ctr">
              <a:lnSpc>
                <a:spcPct val="120000"/>
              </a:lnSpc>
              <a:spcBef>
                <a:spcPts val="0"/>
              </a:spcBef>
              <a:spcAft>
                <a:spcPts val="0"/>
              </a:spcAft>
              <a:buClr>
                <a:schemeClr val="dk1"/>
              </a:buClr>
              <a:buSzPts val="1100"/>
              <a:buFont typeface="Arial"/>
              <a:buNone/>
            </a:pPr>
            <a:r>
              <a:rPr lang="en-GB" sz="1600">
                <a:solidFill>
                  <a:srgbClr val="FFFFFF"/>
                </a:solidFill>
                <a:latin typeface="JetBrains Mono"/>
                <a:ea typeface="JetBrains Mono"/>
                <a:cs typeface="JetBrains Mono"/>
                <a:sym typeface="JetBrains Mono"/>
              </a:rPr>
              <a:t>&amp; there is no “</a:t>
            </a:r>
            <a:r>
              <a:rPr lang="en-GB" sz="1600">
                <a:solidFill>
                  <a:srgbClr val="FF0000"/>
                </a:solidFill>
                <a:latin typeface="JetBrains Mono"/>
                <a:ea typeface="JetBrains Mono"/>
                <a:cs typeface="JetBrains Mono"/>
                <a:sym typeface="JetBrains Mono"/>
              </a:rPr>
              <a:t>UNDO</a:t>
            </a:r>
            <a:r>
              <a:rPr lang="en-GB" sz="1600">
                <a:solidFill>
                  <a:srgbClr val="FFFFFF"/>
                </a:solidFill>
                <a:latin typeface="JetBrains Mono"/>
                <a:ea typeface="JetBrains Mono"/>
                <a:cs typeface="JetBrains Mono"/>
                <a:sym typeface="JetBrains Mono"/>
              </a:rPr>
              <a:t>” button in the BLOCKCHAIN!!!!!</a:t>
            </a:r>
            <a:endParaRPr sz="1700">
              <a:solidFill>
                <a:srgbClr val="FFFFFF"/>
              </a:solidFill>
              <a:latin typeface="JetBrains Mono"/>
              <a:ea typeface="JetBrains Mono"/>
              <a:cs typeface="JetBrains Mono"/>
              <a:sym typeface="JetBrains Mono"/>
            </a:endParaRPr>
          </a:p>
        </p:txBody>
      </p:sp>
    </p:spTree>
  </p:cSld>
  <p:clrMapOvr>
    <a:masterClrMapping/>
  </p:clrMapOvr>
  <mc:AlternateContent>
    <mc:Choice Requires="p14">
      <p:transition p14:dur="2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pic>
        <p:nvPicPr>
          <p:cNvPr id="182" name="Google Shape;182;p29" title="Screenshot 2026-05-09 at 9.10.30 PM.png"/>
          <p:cNvPicPr preferRelativeResize="0"/>
          <p:nvPr/>
        </p:nvPicPr>
        <p:blipFill rotWithShape="1">
          <a:blip r:embed="rId4">
            <a:alphaModFix amt="18000"/>
          </a:blip>
          <a:srcRect b="2544" l="0" r="0" t="0"/>
          <a:stretch/>
        </p:blipFill>
        <p:spPr>
          <a:xfrm>
            <a:off x="-1" y="219899"/>
            <a:ext cx="9144003" cy="4703701"/>
          </a:xfrm>
          <a:prstGeom prst="rect">
            <a:avLst/>
          </a:prstGeom>
          <a:noFill/>
          <a:ln>
            <a:noFill/>
          </a:ln>
        </p:spPr>
      </p:pic>
      <p:sp>
        <p:nvSpPr>
          <p:cNvPr id="183" name="Google Shape;183;p29"/>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4" name="Google Shape;184;p29"/>
          <p:cNvSpPr txBox="1"/>
          <p:nvPr/>
        </p:nvSpPr>
        <p:spPr>
          <a:xfrm>
            <a:off x="531429" y="317731"/>
            <a:ext cx="8536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lang="en-GB" sz="2300">
                <a:solidFill>
                  <a:srgbClr val="F5F5F5"/>
                </a:solidFill>
                <a:latin typeface="JetBrains Mono"/>
                <a:ea typeface="JetBrains Mono"/>
                <a:cs typeface="JetBrains Mono"/>
                <a:sym typeface="JetBrains Mono"/>
              </a:rPr>
              <a:t>WHY </a:t>
            </a:r>
            <a:r>
              <a:rPr b="1" lang="en-GB" sz="2300">
                <a:solidFill>
                  <a:srgbClr val="F5F5F5"/>
                </a:solidFill>
                <a:latin typeface="JetBrains Mono"/>
                <a:ea typeface="JetBrains Mono"/>
                <a:cs typeface="JetBrains Mono"/>
                <a:sym typeface="JetBrains Mono"/>
              </a:rPr>
              <a:t>NOW</a:t>
            </a:r>
            <a:r>
              <a:rPr b="1" lang="en-GB" sz="2300">
                <a:solidFill>
                  <a:srgbClr val="F5F5F5"/>
                </a:solidFill>
                <a:latin typeface="JetBrains Mono"/>
                <a:ea typeface="JetBrains Mono"/>
                <a:cs typeface="JetBrains Mono"/>
                <a:sym typeface="JetBrains Mono"/>
              </a:rPr>
              <a:t>?</a:t>
            </a:r>
            <a:endParaRPr b="0" i="0" sz="1100" u="none" cap="none" strike="noStrike">
              <a:solidFill>
                <a:srgbClr val="000000"/>
              </a:solidFill>
              <a:latin typeface="Arial"/>
              <a:ea typeface="Arial"/>
              <a:cs typeface="Arial"/>
              <a:sym typeface="Arial"/>
            </a:endParaRPr>
          </a:p>
        </p:txBody>
      </p:sp>
      <p:pic>
        <p:nvPicPr>
          <p:cNvPr id="185" name="Google Shape;185;p29"/>
          <p:cNvPicPr preferRelativeResize="0"/>
          <p:nvPr/>
        </p:nvPicPr>
        <p:blipFill rotWithShape="1">
          <a:blip r:embed="rId5">
            <a:alphaModFix/>
          </a:blip>
          <a:srcRect b="0" l="0" r="0" t="0"/>
          <a:stretch/>
        </p:blipFill>
        <p:spPr>
          <a:xfrm>
            <a:off x="359050" y="4661625"/>
            <a:ext cx="1650929" cy="409500"/>
          </a:xfrm>
          <a:prstGeom prst="rect">
            <a:avLst/>
          </a:prstGeom>
          <a:noFill/>
          <a:ln>
            <a:noFill/>
          </a:ln>
        </p:spPr>
      </p:pic>
      <p:pic>
        <p:nvPicPr>
          <p:cNvPr descr="image.png" id="186" name="Google Shape;186;p29"/>
          <p:cNvPicPr preferRelativeResize="0"/>
          <p:nvPr/>
        </p:nvPicPr>
        <p:blipFill>
          <a:blip r:embed="rId6">
            <a:alphaModFix/>
          </a:blip>
          <a:stretch>
            <a:fillRect/>
          </a:stretch>
        </p:blipFill>
        <p:spPr>
          <a:xfrm>
            <a:off x="431450" y="1485425"/>
            <a:ext cx="2090325" cy="2656826"/>
          </a:xfrm>
          <a:prstGeom prst="rect">
            <a:avLst/>
          </a:prstGeom>
          <a:noFill/>
          <a:ln>
            <a:noFill/>
          </a:ln>
        </p:spPr>
      </p:pic>
      <p:sp>
        <p:nvSpPr>
          <p:cNvPr id="187" name="Google Shape;187;p29"/>
          <p:cNvSpPr txBox="1"/>
          <p:nvPr/>
        </p:nvSpPr>
        <p:spPr>
          <a:xfrm>
            <a:off x="839275" y="1633741"/>
            <a:ext cx="1274700" cy="300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750">
                <a:solidFill>
                  <a:srgbClr val="F5F5F5"/>
                </a:solidFill>
                <a:latin typeface="JetBrains Mono"/>
                <a:ea typeface="JetBrains Mono"/>
                <a:cs typeface="JetBrains Mono"/>
                <a:sym typeface="JetBrains Mono"/>
              </a:rPr>
              <a:t>SOLANA AI ECOSYSTEM</a:t>
            </a:r>
            <a:endParaRPr sz="200">
              <a:solidFill>
                <a:schemeClr val="dk1"/>
              </a:solidFill>
            </a:endParaRPr>
          </a:p>
        </p:txBody>
      </p:sp>
      <p:pic>
        <p:nvPicPr>
          <p:cNvPr id="188" name="Google Shape;188;p29" title="solanaLogoMark.png"/>
          <p:cNvPicPr preferRelativeResize="0"/>
          <p:nvPr/>
        </p:nvPicPr>
        <p:blipFill>
          <a:blip r:embed="rId7">
            <a:alphaModFix amt="96000"/>
          </a:blip>
          <a:stretch>
            <a:fillRect/>
          </a:stretch>
        </p:blipFill>
        <p:spPr>
          <a:xfrm>
            <a:off x="496825" y="1633741"/>
            <a:ext cx="356675" cy="310750"/>
          </a:xfrm>
          <a:prstGeom prst="rect">
            <a:avLst/>
          </a:prstGeom>
          <a:noFill/>
          <a:ln>
            <a:noFill/>
          </a:ln>
          <a:effectLst>
            <a:outerShdw blurRad="85725" rotWithShape="0" algn="bl" dir="6660000" dist="95250">
              <a:srgbClr val="AE56FF">
                <a:alpha val="28000"/>
              </a:srgbClr>
            </a:outerShdw>
          </a:effectLst>
        </p:spPr>
      </p:pic>
      <p:pic>
        <p:nvPicPr>
          <p:cNvPr id="189" name="Google Shape;189;p29"/>
          <p:cNvPicPr preferRelativeResize="0"/>
          <p:nvPr/>
        </p:nvPicPr>
        <p:blipFill>
          <a:blip r:embed="rId8">
            <a:alphaModFix/>
          </a:blip>
          <a:stretch>
            <a:fillRect/>
          </a:stretch>
        </p:blipFill>
        <p:spPr>
          <a:xfrm>
            <a:off x="2080675" y="1610792"/>
            <a:ext cx="356675" cy="356650"/>
          </a:xfrm>
          <a:prstGeom prst="rect">
            <a:avLst/>
          </a:prstGeom>
          <a:noFill/>
          <a:ln>
            <a:noFill/>
          </a:ln>
        </p:spPr>
      </p:pic>
      <p:sp>
        <p:nvSpPr>
          <p:cNvPr id="190" name="Google Shape;190;p29"/>
          <p:cNvSpPr txBox="1"/>
          <p:nvPr/>
        </p:nvSpPr>
        <p:spPr>
          <a:xfrm>
            <a:off x="768550" y="2053588"/>
            <a:ext cx="1416000" cy="573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1700">
                <a:solidFill>
                  <a:srgbClr val="4EBA65"/>
                </a:solidFill>
                <a:latin typeface="JetBrains Mono"/>
                <a:ea typeface="JetBrains Mono"/>
                <a:cs typeface="JetBrains Mono"/>
                <a:sym typeface="JetBrains Mono"/>
              </a:rPr>
              <a:t>$</a:t>
            </a:r>
            <a:r>
              <a:rPr b="1" lang="en-GB" sz="1700">
                <a:solidFill>
                  <a:srgbClr val="4EBA65"/>
                </a:solidFill>
                <a:latin typeface="JetBrains Mono"/>
                <a:ea typeface="JetBrains Mono"/>
                <a:cs typeface="JetBrains Mono"/>
                <a:sym typeface="JetBrains Mono"/>
              </a:rPr>
              <a:t>31B</a:t>
            </a:r>
            <a:r>
              <a:rPr b="1" lang="en-GB" sz="1700">
                <a:solidFill>
                  <a:srgbClr val="4EBA65"/>
                </a:solidFill>
                <a:latin typeface="JetBrains Mono"/>
                <a:ea typeface="JetBrains Mono"/>
                <a:cs typeface="JetBrains Mono"/>
                <a:sym typeface="JetBrains Mono"/>
              </a:rPr>
              <a:t>+</a:t>
            </a:r>
            <a:endParaRPr b="1" sz="1700">
              <a:solidFill>
                <a:srgbClr val="4EBA65"/>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00">
              <a:solidFill>
                <a:srgbClr val="4EBA65"/>
              </a:solidFill>
            </a:endParaRPr>
          </a:p>
          <a:p>
            <a:pPr indent="0" lvl="0" marL="0" rtl="0" algn="l">
              <a:spcBef>
                <a:spcPts val="0"/>
              </a:spcBef>
              <a:spcAft>
                <a:spcPts val="0"/>
              </a:spcAft>
              <a:buNone/>
            </a:pPr>
            <a:r>
              <a:t/>
            </a:r>
            <a:endParaRPr sz="100">
              <a:solidFill>
                <a:srgbClr val="4EBA65"/>
              </a:solidFill>
            </a:endParaRPr>
          </a:p>
        </p:txBody>
      </p:sp>
      <p:sp>
        <p:nvSpPr>
          <p:cNvPr id="191" name="Google Shape;191;p29"/>
          <p:cNvSpPr txBox="1"/>
          <p:nvPr/>
        </p:nvSpPr>
        <p:spPr>
          <a:xfrm>
            <a:off x="495775" y="2512775"/>
            <a:ext cx="1917900" cy="307800"/>
          </a:xfrm>
          <a:prstGeom prst="rect">
            <a:avLst/>
          </a:prstGeom>
          <a:noFill/>
          <a:ln>
            <a:noFill/>
          </a:ln>
        </p:spPr>
        <p:txBody>
          <a:bodyPr anchorCtr="0" anchor="t" bIns="91425" lIns="91425" spcFirstLastPara="1" rIns="91425" wrap="square" tIns="91425">
            <a:spAutoFit/>
          </a:bodyPr>
          <a:lstStyle/>
          <a:p>
            <a:pPr indent="0" lvl="0" marL="0" rtl="0" algn="ctr">
              <a:lnSpc>
                <a:spcPct val="192000"/>
              </a:lnSpc>
              <a:spcBef>
                <a:spcPts val="0"/>
              </a:spcBef>
              <a:spcAft>
                <a:spcPts val="0"/>
              </a:spcAft>
              <a:buNone/>
            </a:pPr>
            <a:r>
              <a:rPr lang="en-GB" sz="800">
                <a:solidFill>
                  <a:srgbClr val="8B8B8B"/>
                </a:solidFill>
                <a:latin typeface="Inter"/>
                <a:ea typeface="Inter"/>
                <a:cs typeface="Inter"/>
                <a:sym typeface="Inter"/>
              </a:rPr>
              <a:t>Agent linked volume across 2025</a:t>
            </a:r>
            <a:endParaRPr sz="800">
              <a:solidFill>
                <a:schemeClr val="dk1"/>
              </a:solidFill>
            </a:endParaRPr>
          </a:p>
        </p:txBody>
      </p:sp>
      <p:pic>
        <p:nvPicPr>
          <p:cNvPr descr="image.png" id="192" name="Google Shape;192;p29"/>
          <p:cNvPicPr preferRelativeResize="0"/>
          <p:nvPr/>
        </p:nvPicPr>
        <p:blipFill>
          <a:blip r:embed="rId9">
            <a:alphaModFix/>
          </a:blip>
          <a:stretch>
            <a:fillRect/>
          </a:stretch>
        </p:blipFill>
        <p:spPr>
          <a:xfrm>
            <a:off x="6498225" y="1485425"/>
            <a:ext cx="2134925" cy="2656826"/>
          </a:xfrm>
          <a:prstGeom prst="rect">
            <a:avLst/>
          </a:prstGeom>
          <a:noFill/>
          <a:ln>
            <a:noFill/>
          </a:ln>
        </p:spPr>
      </p:pic>
      <p:pic>
        <p:nvPicPr>
          <p:cNvPr id="193" name="Google Shape;193;p29"/>
          <p:cNvPicPr preferRelativeResize="0"/>
          <p:nvPr/>
        </p:nvPicPr>
        <p:blipFill>
          <a:blip r:embed="rId10">
            <a:alphaModFix/>
          </a:blip>
          <a:stretch>
            <a:fillRect/>
          </a:stretch>
        </p:blipFill>
        <p:spPr>
          <a:xfrm>
            <a:off x="6713223" y="1678595"/>
            <a:ext cx="356676" cy="213110"/>
          </a:xfrm>
          <a:prstGeom prst="rect">
            <a:avLst/>
          </a:prstGeom>
          <a:solidFill>
            <a:srgbClr val="161B22"/>
          </a:solidFill>
          <a:ln>
            <a:noFill/>
          </a:ln>
        </p:spPr>
      </p:pic>
      <p:sp>
        <p:nvSpPr>
          <p:cNvPr id="194" name="Google Shape;194;p29"/>
          <p:cNvSpPr txBox="1"/>
          <p:nvPr/>
        </p:nvSpPr>
        <p:spPr>
          <a:xfrm>
            <a:off x="7143450" y="1591700"/>
            <a:ext cx="1274700" cy="300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750">
                <a:solidFill>
                  <a:srgbClr val="F5F5F5"/>
                </a:solidFill>
                <a:latin typeface="JetBrains Mono"/>
                <a:ea typeface="JetBrains Mono"/>
                <a:cs typeface="JetBrains Mono"/>
                <a:sym typeface="JetBrains Mono"/>
              </a:rPr>
              <a:t>BIG TECH STANDARD</a:t>
            </a:r>
            <a:endParaRPr sz="200">
              <a:solidFill>
                <a:schemeClr val="dk1"/>
              </a:solidFill>
            </a:endParaRPr>
          </a:p>
        </p:txBody>
      </p:sp>
      <p:sp>
        <p:nvSpPr>
          <p:cNvPr id="195" name="Google Shape;195;p29"/>
          <p:cNvSpPr txBox="1"/>
          <p:nvPr/>
        </p:nvSpPr>
        <p:spPr>
          <a:xfrm>
            <a:off x="6800525" y="1992881"/>
            <a:ext cx="1530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solidFill>
                  <a:srgbClr val="F5F5F5"/>
                </a:solidFill>
                <a:latin typeface="JetBrains Mono"/>
                <a:ea typeface="JetBrains Mono"/>
                <a:cs typeface="JetBrains Mono"/>
                <a:sym typeface="JetBrains Mono"/>
              </a:rPr>
              <a:t>“Evals”</a:t>
            </a:r>
            <a:endParaRPr sz="1500">
              <a:solidFill>
                <a:schemeClr val="dk1"/>
              </a:solidFill>
            </a:endParaRPr>
          </a:p>
        </p:txBody>
      </p:sp>
      <p:sp>
        <p:nvSpPr>
          <p:cNvPr id="196" name="Google Shape;196;p29"/>
          <p:cNvSpPr txBox="1"/>
          <p:nvPr/>
        </p:nvSpPr>
        <p:spPr>
          <a:xfrm>
            <a:off x="431350" y="3741575"/>
            <a:ext cx="2090400" cy="338700"/>
          </a:xfrm>
          <a:prstGeom prst="rect">
            <a:avLst/>
          </a:prstGeom>
          <a:noFill/>
          <a:ln>
            <a:noFill/>
          </a:ln>
        </p:spPr>
        <p:txBody>
          <a:bodyPr anchorCtr="0" anchor="ctr" bIns="91425" lIns="91425" spcFirstLastPara="1" rIns="91425" wrap="square" tIns="91425">
            <a:noAutofit/>
          </a:bodyPr>
          <a:lstStyle/>
          <a:p>
            <a:pPr indent="0" lvl="0" marL="0" rtl="0" algn="ctr">
              <a:lnSpc>
                <a:spcPct val="192000"/>
              </a:lnSpc>
              <a:spcBef>
                <a:spcPts val="0"/>
              </a:spcBef>
              <a:spcAft>
                <a:spcPts val="0"/>
              </a:spcAft>
              <a:buNone/>
            </a:pPr>
            <a:r>
              <a:rPr b="1" lang="en-GB" sz="1000">
                <a:solidFill>
                  <a:srgbClr val="E8ECF4"/>
                </a:solidFill>
                <a:latin typeface="Inter"/>
                <a:ea typeface="Inter"/>
                <a:cs typeface="Inter"/>
                <a:sym typeface="Inter"/>
              </a:rPr>
              <a:t>State: Running Wild</a:t>
            </a:r>
            <a:endParaRPr sz="1000">
              <a:solidFill>
                <a:srgbClr val="E8ECF4"/>
              </a:solidFill>
            </a:endParaRPr>
          </a:p>
        </p:txBody>
      </p:sp>
      <p:sp>
        <p:nvSpPr>
          <p:cNvPr id="197" name="Google Shape;197;p29"/>
          <p:cNvSpPr txBox="1"/>
          <p:nvPr/>
        </p:nvSpPr>
        <p:spPr>
          <a:xfrm>
            <a:off x="6542850" y="3741575"/>
            <a:ext cx="2090400" cy="338700"/>
          </a:xfrm>
          <a:prstGeom prst="rect">
            <a:avLst/>
          </a:prstGeom>
          <a:noFill/>
          <a:ln>
            <a:noFill/>
          </a:ln>
        </p:spPr>
        <p:txBody>
          <a:bodyPr anchorCtr="0" anchor="ctr" bIns="91425" lIns="91425" spcFirstLastPara="1" rIns="91425" wrap="square" tIns="91425">
            <a:noAutofit/>
          </a:bodyPr>
          <a:lstStyle/>
          <a:p>
            <a:pPr indent="0" lvl="0" marL="0" rtl="0" algn="ctr">
              <a:lnSpc>
                <a:spcPct val="192000"/>
              </a:lnSpc>
              <a:spcBef>
                <a:spcPts val="0"/>
              </a:spcBef>
              <a:spcAft>
                <a:spcPts val="0"/>
              </a:spcAft>
              <a:buNone/>
            </a:pPr>
            <a:r>
              <a:rPr b="1" lang="en-GB" sz="1000">
                <a:solidFill>
                  <a:srgbClr val="4EBA65"/>
                </a:solidFill>
                <a:latin typeface="Inter"/>
                <a:ea typeface="Inter"/>
                <a:cs typeface="Inter"/>
                <a:sym typeface="Inter"/>
              </a:rPr>
              <a:t>State: Harnessed</a:t>
            </a:r>
            <a:endParaRPr sz="1000">
              <a:solidFill>
                <a:srgbClr val="4EBA65"/>
              </a:solidFill>
            </a:endParaRPr>
          </a:p>
        </p:txBody>
      </p:sp>
      <p:pic>
        <p:nvPicPr>
          <p:cNvPr id="198" name="Google Shape;198;p29" title="new-OpenAI-logo-white-PNG-small-size.png"/>
          <p:cNvPicPr preferRelativeResize="0"/>
          <p:nvPr/>
        </p:nvPicPr>
        <p:blipFill>
          <a:blip r:embed="rId11">
            <a:alphaModFix/>
          </a:blip>
          <a:stretch>
            <a:fillRect/>
          </a:stretch>
        </p:blipFill>
        <p:spPr>
          <a:xfrm>
            <a:off x="7046925" y="2408367"/>
            <a:ext cx="929425" cy="256108"/>
          </a:xfrm>
          <a:prstGeom prst="rect">
            <a:avLst/>
          </a:prstGeom>
          <a:noFill/>
          <a:ln>
            <a:noFill/>
          </a:ln>
        </p:spPr>
      </p:pic>
      <p:sp>
        <p:nvSpPr>
          <p:cNvPr id="199" name="Google Shape;199;p29"/>
          <p:cNvSpPr txBox="1"/>
          <p:nvPr/>
        </p:nvSpPr>
        <p:spPr>
          <a:xfrm>
            <a:off x="429925" y="3286963"/>
            <a:ext cx="2049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rgbClr val="444746"/>
                </a:solidFill>
                <a:latin typeface="Roboto"/>
                <a:ea typeface="Roboto"/>
                <a:cs typeface="Roboto"/>
                <a:sym typeface="Roboto"/>
              </a:rPr>
              <a:t> </a:t>
            </a:r>
            <a:r>
              <a:rPr lang="en-GB" sz="1000">
                <a:solidFill>
                  <a:srgbClr val="8B8B8B"/>
                </a:solidFill>
                <a:latin typeface="Roboto"/>
                <a:ea typeface="Roboto"/>
                <a:cs typeface="Roboto"/>
                <a:sym typeface="Roboto"/>
              </a:rPr>
              <a:t>AI Micropayments made by</a:t>
            </a:r>
            <a:r>
              <a:rPr lang="en-GB" sz="1000">
                <a:solidFill>
                  <a:srgbClr val="444746"/>
                </a:solidFill>
                <a:latin typeface="Roboto"/>
                <a:ea typeface="Roboto"/>
                <a:cs typeface="Roboto"/>
                <a:sym typeface="Roboto"/>
              </a:rPr>
              <a:t> </a:t>
            </a:r>
            <a:r>
              <a:rPr lang="en-GB" sz="1000">
                <a:solidFill>
                  <a:schemeClr val="dk1"/>
                </a:solidFill>
              </a:rPr>
              <a:t> </a:t>
            </a:r>
            <a:r>
              <a:rPr b="1" lang="en-GB" sz="1000">
                <a:solidFill>
                  <a:srgbClr val="999999"/>
                </a:solidFill>
                <a:latin typeface="Inter"/>
                <a:ea typeface="Inter"/>
                <a:cs typeface="Inter"/>
                <a:sym typeface="Inter"/>
              </a:rPr>
              <a:t>Solana</a:t>
            </a:r>
            <a:endParaRPr b="1" sz="1000">
              <a:solidFill>
                <a:srgbClr val="999999"/>
              </a:solidFill>
              <a:latin typeface="Inter"/>
              <a:ea typeface="Inter"/>
              <a:cs typeface="Inter"/>
              <a:sym typeface="Inter"/>
            </a:endParaRPr>
          </a:p>
        </p:txBody>
      </p:sp>
      <p:pic>
        <p:nvPicPr>
          <p:cNvPr id="200" name="Google Shape;200;p29" title="minion.png"/>
          <p:cNvPicPr preferRelativeResize="0"/>
          <p:nvPr/>
        </p:nvPicPr>
        <p:blipFill rotWithShape="1">
          <a:blip r:embed="rId12">
            <a:alphaModFix/>
          </a:blip>
          <a:srcRect b="0" l="48998" r="0" t="0"/>
          <a:stretch/>
        </p:blipFill>
        <p:spPr>
          <a:xfrm>
            <a:off x="6629237" y="2778544"/>
            <a:ext cx="649400" cy="710675"/>
          </a:xfrm>
          <a:prstGeom prst="rect">
            <a:avLst/>
          </a:prstGeom>
          <a:noFill/>
          <a:ln>
            <a:noFill/>
          </a:ln>
        </p:spPr>
      </p:pic>
      <p:sp>
        <p:nvSpPr>
          <p:cNvPr id="201" name="Google Shape;201;p29"/>
          <p:cNvSpPr txBox="1"/>
          <p:nvPr/>
        </p:nvSpPr>
        <p:spPr>
          <a:xfrm>
            <a:off x="7353100" y="3087550"/>
            <a:ext cx="1155300" cy="3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GB" sz="850">
                <a:solidFill>
                  <a:srgbClr val="4EBA65"/>
                </a:solidFill>
                <a:latin typeface="JetBrains Mono"/>
                <a:ea typeface="JetBrains Mono"/>
                <a:cs typeface="JetBrains Mono"/>
                <a:sym typeface="JetBrains Mono"/>
              </a:rPr>
              <a:t>Stripe Minions</a:t>
            </a:r>
            <a:endParaRPr sz="300">
              <a:solidFill>
                <a:srgbClr val="4EBA65"/>
              </a:solidFill>
            </a:endParaRPr>
          </a:p>
        </p:txBody>
      </p:sp>
      <p:pic>
        <p:nvPicPr>
          <p:cNvPr id="202" name="Google Shape;202;p29"/>
          <p:cNvPicPr preferRelativeResize="0"/>
          <p:nvPr/>
        </p:nvPicPr>
        <p:blipFill>
          <a:blip r:embed="rId13">
            <a:alphaModFix/>
          </a:blip>
          <a:stretch>
            <a:fillRect/>
          </a:stretch>
        </p:blipFill>
        <p:spPr>
          <a:xfrm>
            <a:off x="1576650" y="2148700"/>
            <a:ext cx="475500" cy="310800"/>
          </a:xfrm>
          <a:prstGeom prst="roundRect">
            <a:avLst>
              <a:gd fmla="val 16667" name="adj"/>
            </a:avLst>
          </a:prstGeom>
          <a:noFill/>
          <a:ln>
            <a:noFill/>
          </a:ln>
          <a:effectLst>
            <a:outerShdw blurRad="71438" rotWithShape="0" algn="bl" dir="5400000" dist="38100">
              <a:schemeClr val="lt1">
                <a:alpha val="50000"/>
              </a:schemeClr>
            </a:outerShdw>
          </a:effectLst>
        </p:spPr>
      </p:pic>
      <p:sp>
        <p:nvSpPr>
          <p:cNvPr id="203" name="Google Shape;203;p29"/>
          <p:cNvSpPr txBox="1"/>
          <p:nvPr/>
        </p:nvSpPr>
        <p:spPr>
          <a:xfrm>
            <a:off x="531425" y="2887575"/>
            <a:ext cx="17766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GB" sz="2000">
                <a:solidFill>
                  <a:srgbClr val="4EBA65"/>
                </a:solidFill>
                <a:latin typeface="JetBrains Mono"/>
                <a:ea typeface="JetBrains Mono"/>
                <a:cs typeface="JetBrains Mono"/>
                <a:sym typeface="JetBrains Mono"/>
              </a:rPr>
              <a:t>~49%</a:t>
            </a:r>
            <a:r>
              <a:rPr b="1" lang="en-GB" sz="2000">
                <a:solidFill>
                  <a:srgbClr val="4EBA65"/>
                </a:solidFill>
                <a:latin typeface="JetBrains Mono"/>
                <a:ea typeface="JetBrains Mono"/>
                <a:cs typeface="JetBrains Mono"/>
                <a:sym typeface="JetBrains Mono"/>
              </a:rPr>
              <a:t> </a:t>
            </a:r>
            <a:endParaRPr sz="2000">
              <a:solidFill>
                <a:srgbClr val="4EBA65"/>
              </a:solidFill>
            </a:endParaRPr>
          </a:p>
        </p:txBody>
      </p:sp>
      <p:pic>
        <p:nvPicPr>
          <p:cNvPr descr="image.png" id="204" name="Google Shape;204;p29"/>
          <p:cNvPicPr preferRelativeResize="0"/>
          <p:nvPr/>
        </p:nvPicPr>
        <p:blipFill>
          <a:blip r:embed="rId14">
            <a:alphaModFix/>
          </a:blip>
          <a:stretch>
            <a:fillRect/>
          </a:stretch>
        </p:blipFill>
        <p:spPr>
          <a:xfrm>
            <a:off x="3464838" y="1485413"/>
            <a:ext cx="2090325" cy="2656825"/>
          </a:xfrm>
          <a:prstGeom prst="rect">
            <a:avLst/>
          </a:prstGeom>
          <a:noFill/>
          <a:ln>
            <a:noFill/>
          </a:ln>
        </p:spPr>
      </p:pic>
      <p:sp>
        <p:nvSpPr>
          <p:cNvPr id="205" name="Google Shape;205;p29"/>
          <p:cNvSpPr txBox="1"/>
          <p:nvPr/>
        </p:nvSpPr>
        <p:spPr>
          <a:xfrm>
            <a:off x="3728900" y="1652925"/>
            <a:ext cx="1693800" cy="300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750">
                <a:solidFill>
                  <a:srgbClr val="F5F5F5"/>
                </a:solidFill>
                <a:latin typeface="JetBrains Mono"/>
                <a:ea typeface="JetBrains Mono"/>
                <a:cs typeface="JetBrains Mono"/>
                <a:sym typeface="JetBrains Mono"/>
              </a:rPr>
              <a:t>THE PROBABILISTIC TRAP</a:t>
            </a:r>
            <a:endParaRPr sz="200">
              <a:solidFill>
                <a:schemeClr val="dk1"/>
              </a:solidFill>
            </a:endParaRPr>
          </a:p>
        </p:txBody>
      </p:sp>
      <p:sp>
        <p:nvSpPr>
          <p:cNvPr id="206" name="Google Shape;206;p29"/>
          <p:cNvSpPr txBox="1"/>
          <p:nvPr/>
        </p:nvSpPr>
        <p:spPr>
          <a:xfrm>
            <a:off x="3511338" y="2506550"/>
            <a:ext cx="2001900" cy="4464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GB" sz="1700">
                <a:solidFill>
                  <a:srgbClr val="EF4444"/>
                </a:solidFill>
                <a:latin typeface="JetBrains Mono"/>
                <a:ea typeface="JetBrains Mono"/>
                <a:cs typeface="JetBrains Mono"/>
                <a:sym typeface="JetBrains Mono"/>
              </a:rPr>
              <a:t>65% Failure</a:t>
            </a:r>
            <a:endParaRPr sz="1700">
              <a:solidFill>
                <a:schemeClr val="dk1"/>
              </a:solidFill>
            </a:endParaRPr>
          </a:p>
        </p:txBody>
      </p:sp>
      <p:sp>
        <p:nvSpPr>
          <p:cNvPr id="207" name="Google Shape;207;p29"/>
          <p:cNvSpPr txBox="1"/>
          <p:nvPr/>
        </p:nvSpPr>
        <p:spPr>
          <a:xfrm>
            <a:off x="3595413" y="3109900"/>
            <a:ext cx="1917900" cy="544200"/>
          </a:xfrm>
          <a:prstGeom prst="rect">
            <a:avLst/>
          </a:prstGeom>
          <a:noFill/>
          <a:ln>
            <a:noFill/>
          </a:ln>
        </p:spPr>
        <p:txBody>
          <a:bodyPr anchorCtr="0" anchor="t" bIns="91425" lIns="91425" spcFirstLastPara="1" rIns="91425" wrap="square" tIns="91425">
            <a:spAutoFit/>
          </a:bodyPr>
          <a:lstStyle/>
          <a:p>
            <a:pPr indent="0" lvl="0" marL="0" rtl="0" algn="ctr">
              <a:lnSpc>
                <a:spcPct val="192000"/>
              </a:lnSpc>
              <a:spcBef>
                <a:spcPts val="0"/>
              </a:spcBef>
              <a:spcAft>
                <a:spcPts val="0"/>
              </a:spcAft>
              <a:buNone/>
            </a:pPr>
            <a:r>
              <a:rPr lang="en-GB" sz="800">
                <a:solidFill>
                  <a:srgbClr val="8B8B8B"/>
                </a:solidFill>
                <a:latin typeface="Inter"/>
                <a:ea typeface="Inter"/>
                <a:cs typeface="Inter"/>
                <a:sym typeface="Inter"/>
              </a:rPr>
              <a:t>90% -&gt; 10 step Defi strategy</a:t>
            </a:r>
            <a:endParaRPr sz="800">
              <a:solidFill>
                <a:srgbClr val="8B8B8B"/>
              </a:solidFill>
              <a:latin typeface="Inter"/>
              <a:ea typeface="Inter"/>
              <a:cs typeface="Inter"/>
              <a:sym typeface="Inter"/>
            </a:endParaRPr>
          </a:p>
          <a:p>
            <a:pPr indent="0" lvl="0" marL="0" rtl="0" algn="ctr">
              <a:lnSpc>
                <a:spcPct val="192000"/>
              </a:lnSpc>
              <a:spcBef>
                <a:spcPts val="0"/>
              </a:spcBef>
              <a:spcAft>
                <a:spcPts val="0"/>
              </a:spcAft>
              <a:buNone/>
            </a:pPr>
            <a:r>
              <a:rPr lang="en-GB" sz="800">
                <a:solidFill>
                  <a:srgbClr val="8B8B8B"/>
                </a:solidFill>
                <a:latin typeface="Inter"/>
                <a:ea typeface="Inter"/>
                <a:cs typeface="Inter"/>
                <a:sym typeface="Inter"/>
              </a:rPr>
              <a:t>0.90^10 = </a:t>
            </a:r>
            <a:r>
              <a:rPr b="1" lang="en-GB" sz="800">
                <a:solidFill>
                  <a:schemeClr val="lt1"/>
                </a:solidFill>
                <a:latin typeface="Inter"/>
                <a:ea typeface="Inter"/>
                <a:cs typeface="Inter"/>
                <a:sym typeface="Inter"/>
              </a:rPr>
              <a:t>0.348 Success rate</a:t>
            </a:r>
            <a:endParaRPr b="1" sz="800">
              <a:solidFill>
                <a:schemeClr val="lt1"/>
              </a:solidFill>
              <a:latin typeface="Inter"/>
              <a:ea typeface="Inter"/>
              <a:cs typeface="Inter"/>
              <a:sym typeface="Inter"/>
            </a:endParaRPr>
          </a:p>
        </p:txBody>
      </p:sp>
      <p:pic>
        <p:nvPicPr>
          <p:cNvPr id="208" name="Google Shape;208;p29"/>
          <p:cNvPicPr preferRelativeResize="0"/>
          <p:nvPr/>
        </p:nvPicPr>
        <p:blipFill>
          <a:blip r:embed="rId15">
            <a:alphaModFix/>
          </a:blip>
          <a:stretch>
            <a:fillRect/>
          </a:stretch>
        </p:blipFill>
        <p:spPr>
          <a:xfrm>
            <a:off x="4089663" y="2104729"/>
            <a:ext cx="929425" cy="250021"/>
          </a:xfrm>
          <a:prstGeom prst="rect">
            <a:avLst/>
          </a:prstGeom>
          <a:noFill/>
          <a:ln>
            <a:noFill/>
          </a:ln>
        </p:spPr>
      </p:pic>
      <p:pic>
        <p:nvPicPr>
          <p:cNvPr id="209" name="Google Shape;209;p29"/>
          <p:cNvPicPr preferRelativeResize="0"/>
          <p:nvPr/>
        </p:nvPicPr>
        <p:blipFill>
          <a:blip r:embed="rId16">
            <a:alphaModFix/>
          </a:blip>
          <a:stretch>
            <a:fillRect/>
          </a:stretch>
        </p:blipFill>
        <p:spPr>
          <a:xfrm>
            <a:off x="7353096" y="3138800"/>
            <a:ext cx="537746" cy="213100"/>
          </a:xfrm>
          <a:prstGeom prst="rect">
            <a:avLst/>
          </a:prstGeom>
          <a:noFill/>
          <a:ln>
            <a:noFill/>
          </a:ln>
        </p:spPr>
      </p:pic>
    </p:spTree>
  </p:cSld>
  <p:clrMapOvr>
    <a:masterClrMapping/>
  </p:clrMapOvr>
  <mc:AlternateContent>
    <mc:Choice Requires="p14">
      <p:transition p14:dur="2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30"/>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5" name="Google Shape;215;p30"/>
          <p:cNvSpPr txBox="1"/>
          <p:nvPr/>
        </p:nvSpPr>
        <p:spPr>
          <a:xfrm>
            <a:off x="531427" y="317725"/>
            <a:ext cx="3993300" cy="35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300"/>
              <a:buFont typeface="Arial"/>
              <a:buNone/>
            </a:pPr>
            <a:r>
              <a:rPr b="1" lang="en-GB" sz="2300">
                <a:solidFill>
                  <a:srgbClr val="F5F5F5"/>
                </a:solidFill>
                <a:latin typeface="JetBrains Mono"/>
                <a:ea typeface="JetBrains Mono"/>
                <a:cs typeface="JetBrains Mono"/>
                <a:sym typeface="JetBrains Mono"/>
              </a:rPr>
              <a:t>MEET THE TEAM</a:t>
            </a:r>
            <a:endParaRPr b="1" sz="2174">
              <a:solidFill>
                <a:srgbClr val="F5F5F5"/>
              </a:solidFill>
              <a:latin typeface="JetBrains Mono"/>
              <a:ea typeface="JetBrains Mono"/>
              <a:cs typeface="JetBrains Mono"/>
              <a:sym typeface="JetBrains Mono"/>
            </a:endParaRPr>
          </a:p>
        </p:txBody>
      </p:sp>
      <p:sp>
        <p:nvSpPr>
          <p:cNvPr id="216" name="Google Shape;216;p30"/>
          <p:cNvSpPr/>
          <p:nvPr/>
        </p:nvSpPr>
        <p:spPr>
          <a:xfrm>
            <a:off x="3315094" y="891545"/>
            <a:ext cx="2429100" cy="2587800"/>
          </a:xfrm>
          <a:prstGeom prst="rect">
            <a:avLst/>
          </a:prstGeom>
          <a:solidFill>
            <a:srgbClr val="161B22"/>
          </a:solidFill>
          <a:ln>
            <a:noFill/>
          </a:ln>
          <a:effectLst>
            <a:outerShdw blurRad="242888" rotWithShape="0" algn="bl" dir="5400000" dist="9525">
              <a:schemeClr val="accent3">
                <a:alpha val="1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cxnSp>
        <p:nvCxnSpPr>
          <p:cNvPr id="217" name="Google Shape;217;p30"/>
          <p:cNvCxnSpPr/>
          <p:nvPr/>
        </p:nvCxnSpPr>
        <p:spPr>
          <a:xfrm>
            <a:off x="3314063" y="923503"/>
            <a:ext cx="2429100" cy="0"/>
          </a:xfrm>
          <a:prstGeom prst="straightConnector1">
            <a:avLst/>
          </a:prstGeom>
          <a:noFill/>
          <a:ln cap="flat" cmpd="sng" w="38100">
            <a:solidFill>
              <a:srgbClr val="4EBA65"/>
            </a:solidFill>
            <a:prstDash val="solid"/>
            <a:round/>
            <a:headEnd len="med" w="med" type="none"/>
            <a:tailEnd len="med" w="med" type="none"/>
          </a:ln>
        </p:spPr>
      </p:cxnSp>
      <p:sp>
        <p:nvSpPr>
          <p:cNvPr id="218" name="Google Shape;218;p30"/>
          <p:cNvSpPr/>
          <p:nvPr/>
        </p:nvSpPr>
        <p:spPr>
          <a:xfrm>
            <a:off x="6241676" y="891545"/>
            <a:ext cx="2429100" cy="2587800"/>
          </a:xfrm>
          <a:prstGeom prst="rect">
            <a:avLst/>
          </a:prstGeom>
          <a:solidFill>
            <a:srgbClr val="161B22"/>
          </a:solidFill>
          <a:ln>
            <a:noFill/>
          </a:ln>
          <a:effectLst>
            <a:outerShdw blurRad="242888" rotWithShape="0" algn="bl" dir="5400000" dist="9525">
              <a:schemeClr val="accent3">
                <a:alpha val="1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cxnSp>
        <p:nvCxnSpPr>
          <p:cNvPr id="219" name="Google Shape;219;p30"/>
          <p:cNvCxnSpPr/>
          <p:nvPr/>
        </p:nvCxnSpPr>
        <p:spPr>
          <a:xfrm>
            <a:off x="6240650" y="923503"/>
            <a:ext cx="2429100" cy="0"/>
          </a:xfrm>
          <a:prstGeom prst="straightConnector1">
            <a:avLst/>
          </a:prstGeom>
          <a:noFill/>
          <a:ln cap="flat" cmpd="sng" w="38100">
            <a:solidFill>
              <a:srgbClr val="4EBA65"/>
            </a:solidFill>
            <a:prstDash val="solid"/>
            <a:round/>
            <a:headEnd len="med" w="med" type="none"/>
            <a:tailEnd len="med" w="med" type="none"/>
          </a:ln>
        </p:spPr>
      </p:cxnSp>
      <p:pic>
        <p:nvPicPr>
          <p:cNvPr id="220" name="Google Shape;220;p30" title="Sai.jpg"/>
          <p:cNvPicPr preferRelativeResize="0"/>
          <p:nvPr/>
        </p:nvPicPr>
        <p:blipFill rotWithShape="1">
          <a:blip r:embed="rId4">
            <a:alphaModFix/>
          </a:blip>
          <a:srcRect b="34557" l="18108" r="10545" t="15156"/>
          <a:stretch/>
        </p:blipFill>
        <p:spPr>
          <a:xfrm>
            <a:off x="4149047" y="1008495"/>
            <a:ext cx="762300" cy="646500"/>
          </a:xfrm>
          <a:prstGeom prst="roundRect">
            <a:avLst>
              <a:gd fmla="val 16667" name="adj"/>
            </a:avLst>
          </a:prstGeom>
          <a:solidFill>
            <a:srgbClr val="161B22"/>
          </a:solidFill>
          <a:ln cap="flat" cmpd="sng" w="19050">
            <a:solidFill>
              <a:srgbClr val="4EBA65"/>
            </a:solidFill>
            <a:prstDash val="solid"/>
            <a:round/>
            <a:headEnd len="sm" w="sm" type="none"/>
            <a:tailEnd len="sm" w="sm" type="none"/>
          </a:ln>
        </p:spPr>
      </p:pic>
      <p:sp>
        <p:nvSpPr>
          <p:cNvPr id="221" name="Google Shape;221;p30"/>
          <p:cNvSpPr txBox="1"/>
          <p:nvPr/>
        </p:nvSpPr>
        <p:spPr>
          <a:xfrm>
            <a:off x="3315625" y="2018095"/>
            <a:ext cx="2429100" cy="118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GB" sz="1200">
                <a:solidFill>
                  <a:srgbClr val="D7D4CC"/>
                </a:solidFill>
              </a:rPr>
              <a:t>Sai Shreyas Gubbi Harish</a:t>
            </a:r>
            <a:endParaRPr b="1" sz="1200">
              <a:solidFill>
                <a:srgbClr val="D7D4CC"/>
              </a:solidFill>
            </a:endParaRPr>
          </a:p>
          <a:p>
            <a:pPr indent="0" lvl="0" marL="0" rtl="0" algn="ctr">
              <a:lnSpc>
                <a:spcPct val="100000"/>
              </a:lnSpc>
              <a:spcBef>
                <a:spcPts val="0"/>
              </a:spcBef>
              <a:spcAft>
                <a:spcPts val="0"/>
              </a:spcAft>
              <a:buNone/>
            </a:pPr>
            <a:r>
              <a:rPr b="1" lang="en-GB" sz="1000">
                <a:solidFill>
                  <a:srgbClr val="D7D4CC"/>
                </a:solidFill>
              </a:rPr>
              <a:t>MSc in Cloud Computing </a:t>
            </a:r>
            <a:endParaRPr b="1" sz="1000">
              <a:solidFill>
                <a:srgbClr val="D7D4CC"/>
              </a:solidFill>
            </a:endParaRPr>
          </a:p>
          <a:p>
            <a:pPr indent="0" lvl="0" marL="0" rtl="0" algn="ctr">
              <a:lnSpc>
                <a:spcPct val="115000"/>
              </a:lnSpc>
              <a:spcBef>
                <a:spcPts val="0"/>
              </a:spcBef>
              <a:spcAft>
                <a:spcPts val="0"/>
              </a:spcAft>
              <a:buNone/>
            </a:pPr>
            <a:r>
              <a:rPr b="1" lang="en-GB" sz="1000">
                <a:solidFill>
                  <a:srgbClr val="D7D4CC"/>
                </a:solidFill>
              </a:rPr>
              <a:t>2026</a:t>
            </a:r>
            <a:endParaRPr sz="10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a:t>
            </a:r>
            <a:r>
              <a:rPr b="1" lang="en-GB" sz="1000">
                <a:solidFill>
                  <a:srgbClr val="D7D4CC"/>
                </a:solidFill>
              </a:rPr>
              <a:t>Web3 &amp; Compliance </a:t>
            </a:r>
            <a:endParaRPr b="1" sz="10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a:t>
            </a:r>
            <a:r>
              <a:rPr b="1" lang="en-GB" sz="1000">
                <a:solidFill>
                  <a:srgbClr val="D7D4CC"/>
                </a:solidFill>
              </a:rPr>
              <a:t>Enterprise 𑇐 Blockchain</a:t>
            </a:r>
            <a:endParaRPr b="1" sz="1000">
              <a:solidFill>
                <a:srgbClr val="D7D4CC"/>
              </a:solidFill>
            </a:endParaRPr>
          </a:p>
        </p:txBody>
      </p:sp>
      <p:pic>
        <p:nvPicPr>
          <p:cNvPr id="222" name="Google Shape;222;p30" title="Gemini_Generated_Image_z4rdw4z4rdw4z4rd-2.png"/>
          <p:cNvPicPr preferRelativeResize="0"/>
          <p:nvPr/>
        </p:nvPicPr>
        <p:blipFill rotWithShape="1">
          <a:blip r:embed="rId5">
            <a:alphaModFix/>
          </a:blip>
          <a:srcRect b="35149" l="15292" r="15292" t="20717"/>
          <a:stretch/>
        </p:blipFill>
        <p:spPr>
          <a:xfrm>
            <a:off x="7074000" y="1008495"/>
            <a:ext cx="762300" cy="646500"/>
          </a:xfrm>
          <a:prstGeom prst="roundRect">
            <a:avLst>
              <a:gd fmla="val 16667" name="adj"/>
            </a:avLst>
          </a:prstGeom>
          <a:noFill/>
          <a:ln cap="flat" cmpd="sng" w="19050">
            <a:solidFill>
              <a:srgbClr val="4EBA65"/>
            </a:solidFill>
            <a:prstDash val="solid"/>
            <a:round/>
            <a:headEnd len="sm" w="sm" type="none"/>
            <a:tailEnd len="sm" w="sm" type="none"/>
          </a:ln>
        </p:spPr>
      </p:pic>
      <p:sp>
        <p:nvSpPr>
          <p:cNvPr id="223" name="Google Shape;223;p30"/>
          <p:cNvSpPr txBox="1"/>
          <p:nvPr/>
        </p:nvSpPr>
        <p:spPr>
          <a:xfrm>
            <a:off x="6241650" y="2014945"/>
            <a:ext cx="2429100" cy="101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1200">
                <a:solidFill>
                  <a:srgbClr val="D7D4CC"/>
                </a:solidFill>
              </a:rPr>
              <a:t>Tejas Shiva Kumar</a:t>
            </a:r>
            <a:endParaRPr b="1" sz="1200">
              <a:solidFill>
                <a:srgbClr val="D7D4CC"/>
              </a:solidFill>
            </a:endParaRPr>
          </a:p>
          <a:p>
            <a:pPr indent="0" lvl="0" marL="0" rtl="0" algn="ctr">
              <a:lnSpc>
                <a:spcPct val="115000"/>
              </a:lnSpc>
              <a:spcBef>
                <a:spcPts val="0"/>
              </a:spcBef>
              <a:spcAft>
                <a:spcPts val="0"/>
              </a:spcAft>
              <a:buClr>
                <a:schemeClr val="dk1"/>
              </a:buClr>
              <a:buSzPts val="1100"/>
              <a:buFont typeface="Arial"/>
              <a:buNone/>
            </a:pPr>
            <a:r>
              <a:rPr b="1" lang="en-GB" sz="1000">
                <a:solidFill>
                  <a:srgbClr val="D7D4CC"/>
                </a:solidFill>
              </a:rPr>
              <a:t>MSc in Data Analytics</a:t>
            </a:r>
            <a:endParaRPr b="1" sz="1000">
              <a:solidFill>
                <a:srgbClr val="D7D4CC"/>
              </a:solidFill>
            </a:endParaRPr>
          </a:p>
          <a:p>
            <a:pPr indent="0" lvl="0" marL="0" rtl="0" algn="ctr">
              <a:lnSpc>
                <a:spcPct val="115000"/>
              </a:lnSpc>
              <a:spcBef>
                <a:spcPts val="0"/>
              </a:spcBef>
              <a:spcAft>
                <a:spcPts val="0"/>
              </a:spcAft>
              <a:buClr>
                <a:schemeClr val="dk1"/>
              </a:buClr>
              <a:buSzPts val="1100"/>
              <a:buFont typeface="Arial"/>
              <a:buNone/>
            </a:pPr>
            <a:r>
              <a:rPr b="1" lang="en-GB" sz="1000">
                <a:solidFill>
                  <a:srgbClr val="D7D4CC"/>
                </a:solidFill>
              </a:rPr>
              <a:t> 2026</a:t>
            </a:r>
            <a:endParaRPr sz="8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Solana Dev</a:t>
            </a:r>
            <a:r>
              <a:rPr lang="en-GB" sz="1000">
                <a:solidFill>
                  <a:srgbClr val="D7D4CC"/>
                </a:solidFill>
              </a:rPr>
              <a:t> </a:t>
            </a:r>
            <a:r>
              <a:rPr b="1" lang="en-GB" sz="1000">
                <a:solidFill>
                  <a:srgbClr val="D7D4CC"/>
                </a:solidFill>
              </a:rPr>
              <a:t>𑇐 Infrastructure </a:t>
            </a:r>
            <a:endParaRPr b="1" sz="10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AI Agents </a:t>
            </a:r>
            <a:endParaRPr b="1" sz="1000">
              <a:solidFill>
                <a:srgbClr val="D7D4CC"/>
              </a:solidFill>
            </a:endParaRPr>
          </a:p>
        </p:txBody>
      </p:sp>
      <p:sp>
        <p:nvSpPr>
          <p:cNvPr id="224" name="Google Shape;224;p30"/>
          <p:cNvSpPr/>
          <p:nvPr/>
        </p:nvSpPr>
        <p:spPr>
          <a:xfrm>
            <a:off x="389600" y="886495"/>
            <a:ext cx="2429100" cy="2587800"/>
          </a:xfrm>
          <a:prstGeom prst="rect">
            <a:avLst/>
          </a:prstGeom>
          <a:solidFill>
            <a:srgbClr val="161B22"/>
          </a:solidFill>
          <a:ln>
            <a:noFill/>
          </a:ln>
          <a:effectLst>
            <a:outerShdw blurRad="242888" rotWithShape="0" algn="bl" dir="5400000" dist="9525">
              <a:schemeClr val="accent3">
                <a:alpha val="1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cxnSp>
        <p:nvCxnSpPr>
          <p:cNvPr id="225" name="Google Shape;225;p30"/>
          <p:cNvCxnSpPr/>
          <p:nvPr/>
        </p:nvCxnSpPr>
        <p:spPr>
          <a:xfrm>
            <a:off x="388563" y="918203"/>
            <a:ext cx="2429100" cy="0"/>
          </a:xfrm>
          <a:prstGeom prst="straightConnector1">
            <a:avLst/>
          </a:prstGeom>
          <a:noFill/>
          <a:ln cap="flat" cmpd="sng" w="38100">
            <a:solidFill>
              <a:srgbClr val="4EBA65"/>
            </a:solidFill>
            <a:prstDash val="solid"/>
            <a:round/>
            <a:headEnd len="med" w="med" type="none"/>
            <a:tailEnd len="med" w="med" type="none"/>
          </a:ln>
        </p:spPr>
      </p:cxnSp>
      <p:pic>
        <p:nvPicPr>
          <p:cNvPr id="226" name="Google Shape;226;p30" title="WhatsApp Image 2026-05-14 at 9.36.41 PM.jpeg"/>
          <p:cNvPicPr preferRelativeResize="0"/>
          <p:nvPr/>
        </p:nvPicPr>
        <p:blipFill rotWithShape="1">
          <a:blip r:embed="rId6">
            <a:alphaModFix/>
          </a:blip>
          <a:srcRect b="30860" l="13375" r="15294" t="35113"/>
          <a:stretch/>
        </p:blipFill>
        <p:spPr>
          <a:xfrm>
            <a:off x="1223000" y="1008495"/>
            <a:ext cx="762300" cy="646500"/>
          </a:xfrm>
          <a:prstGeom prst="roundRect">
            <a:avLst>
              <a:gd fmla="val 16667" name="adj"/>
            </a:avLst>
          </a:prstGeom>
          <a:noFill/>
          <a:ln cap="flat" cmpd="sng" w="19050">
            <a:solidFill>
              <a:srgbClr val="4EBA65"/>
            </a:solidFill>
            <a:prstDash val="solid"/>
            <a:round/>
            <a:headEnd len="sm" w="sm" type="none"/>
            <a:tailEnd len="sm" w="sm" type="none"/>
          </a:ln>
        </p:spPr>
      </p:pic>
      <p:sp>
        <p:nvSpPr>
          <p:cNvPr id="227" name="Google Shape;227;p30"/>
          <p:cNvSpPr txBox="1"/>
          <p:nvPr/>
        </p:nvSpPr>
        <p:spPr>
          <a:xfrm>
            <a:off x="388550" y="1990495"/>
            <a:ext cx="2429100" cy="106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200">
                <a:solidFill>
                  <a:srgbClr val="D7D4CC"/>
                </a:solidFill>
              </a:rPr>
              <a:t>Balaji Segu Krishnaiah</a:t>
            </a:r>
            <a:endParaRPr b="1" sz="1200">
              <a:solidFill>
                <a:srgbClr val="D7D4CC"/>
              </a:solidFill>
            </a:endParaRPr>
          </a:p>
          <a:p>
            <a:pPr indent="0" lvl="0" marL="0" rtl="0" algn="ctr">
              <a:lnSpc>
                <a:spcPct val="115000"/>
              </a:lnSpc>
              <a:spcBef>
                <a:spcPts val="0"/>
              </a:spcBef>
              <a:spcAft>
                <a:spcPts val="0"/>
              </a:spcAft>
              <a:buNone/>
            </a:pPr>
            <a:r>
              <a:rPr b="1" lang="en-GB" sz="1000">
                <a:solidFill>
                  <a:srgbClr val="D7D4CC"/>
                </a:solidFill>
              </a:rPr>
              <a:t>MSc in Artificial </a:t>
            </a:r>
            <a:r>
              <a:rPr b="1" lang="en-GB" sz="1000">
                <a:solidFill>
                  <a:srgbClr val="D7D4CC"/>
                </a:solidFill>
              </a:rPr>
              <a:t>Intelligence</a:t>
            </a:r>
            <a:endParaRPr b="1" sz="1000">
              <a:solidFill>
                <a:srgbClr val="D7D4CC"/>
              </a:solidFill>
            </a:endParaRPr>
          </a:p>
          <a:p>
            <a:pPr indent="0" lvl="0" marL="0" rtl="0" algn="ctr">
              <a:lnSpc>
                <a:spcPct val="115000"/>
              </a:lnSpc>
              <a:spcBef>
                <a:spcPts val="0"/>
              </a:spcBef>
              <a:spcAft>
                <a:spcPts val="0"/>
              </a:spcAft>
              <a:buNone/>
            </a:pPr>
            <a:r>
              <a:rPr b="1" lang="en-GB" sz="1000">
                <a:solidFill>
                  <a:srgbClr val="D7D4CC"/>
                </a:solidFill>
              </a:rPr>
              <a:t> 2026</a:t>
            </a:r>
            <a:endParaRPr b="1" sz="9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DeFi Protocols </a:t>
            </a:r>
            <a:endParaRPr b="1" sz="1000">
              <a:solidFill>
                <a:srgbClr val="D7D4CC"/>
              </a:solidFill>
            </a:endParaRPr>
          </a:p>
          <a:p>
            <a:pPr indent="0" lvl="0" marL="0" rtl="0" algn="ctr">
              <a:spcBef>
                <a:spcPts val="0"/>
              </a:spcBef>
              <a:spcAft>
                <a:spcPts val="0"/>
              </a:spcAft>
              <a:buClr>
                <a:schemeClr val="dk1"/>
              </a:buClr>
              <a:buSzPts val="1100"/>
              <a:buFont typeface="Arial"/>
              <a:buNone/>
            </a:pPr>
            <a:r>
              <a:rPr b="1" lang="en-GB" sz="1000">
                <a:solidFill>
                  <a:srgbClr val="D7D4CC"/>
                </a:solidFill>
              </a:rPr>
              <a:t>𑇐 Smart Contracts 𑇐 LLM Models.</a:t>
            </a:r>
            <a:endParaRPr sz="1000">
              <a:solidFill>
                <a:srgbClr val="D7D4CC"/>
              </a:solidFill>
            </a:endParaRPr>
          </a:p>
          <a:p>
            <a:pPr indent="0" lvl="0" marL="0" rtl="0" algn="ctr">
              <a:spcBef>
                <a:spcPts val="0"/>
              </a:spcBef>
              <a:spcAft>
                <a:spcPts val="0"/>
              </a:spcAft>
              <a:buClr>
                <a:schemeClr val="dk1"/>
              </a:buClr>
              <a:buSzPts val="1100"/>
              <a:buFont typeface="Arial"/>
              <a:buNone/>
            </a:pPr>
            <a:r>
              <a:t/>
            </a:r>
            <a:endParaRPr b="1" sz="800">
              <a:solidFill>
                <a:srgbClr val="D7D4CC"/>
              </a:solidFill>
            </a:endParaRPr>
          </a:p>
        </p:txBody>
      </p:sp>
      <p:sp>
        <p:nvSpPr>
          <p:cNvPr id="228" name="Google Shape;228;p30"/>
          <p:cNvSpPr txBox="1"/>
          <p:nvPr/>
        </p:nvSpPr>
        <p:spPr>
          <a:xfrm>
            <a:off x="389450" y="1715045"/>
            <a:ext cx="242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2300"/>
              <a:buFont typeface="Arial"/>
              <a:buNone/>
            </a:pPr>
            <a:r>
              <a:rPr b="1" lang="en-GB">
                <a:solidFill>
                  <a:srgbClr val="4EBA65"/>
                </a:solidFill>
                <a:latin typeface="JetBrains Mono"/>
                <a:ea typeface="JetBrains Mono"/>
                <a:cs typeface="JetBrains Mono"/>
                <a:sym typeface="JetBrains Mono"/>
              </a:rPr>
              <a:t>FOUNDER, CEO</a:t>
            </a:r>
            <a:endParaRPr b="1">
              <a:solidFill>
                <a:srgbClr val="4EBA65"/>
              </a:solidFill>
              <a:latin typeface="JetBrains Mono"/>
              <a:ea typeface="JetBrains Mono"/>
              <a:cs typeface="JetBrains Mono"/>
              <a:sym typeface="JetBrains Mono"/>
            </a:endParaRPr>
          </a:p>
        </p:txBody>
      </p:sp>
      <p:sp>
        <p:nvSpPr>
          <p:cNvPr id="229" name="Google Shape;229;p30"/>
          <p:cNvSpPr txBox="1"/>
          <p:nvPr/>
        </p:nvSpPr>
        <p:spPr>
          <a:xfrm>
            <a:off x="3315637" y="1778320"/>
            <a:ext cx="242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2300"/>
              <a:buFont typeface="Arial"/>
              <a:buNone/>
            </a:pPr>
            <a:r>
              <a:rPr b="1" lang="en-GB">
                <a:solidFill>
                  <a:srgbClr val="4EBA65"/>
                </a:solidFill>
                <a:latin typeface="JetBrains Mono"/>
                <a:ea typeface="JetBrains Mono"/>
                <a:cs typeface="JetBrains Mono"/>
                <a:sym typeface="JetBrains Mono"/>
              </a:rPr>
              <a:t>CO-</a:t>
            </a:r>
            <a:r>
              <a:rPr b="1" lang="en-GB">
                <a:solidFill>
                  <a:srgbClr val="4EBA65"/>
                </a:solidFill>
                <a:latin typeface="JetBrains Mono"/>
                <a:ea typeface="JetBrains Mono"/>
                <a:cs typeface="JetBrains Mono"/>
                <a:sym typeface="JetBrains Mono"/>
              </a:rPr>
              <a:t>FOUNDER, CPFMO</a:t>
            </a:r>
            <a:endParaRPr b="1">
              <a:solidFill>
                <a:srgbClr val="4EBA65"/>
              </a:solidFill>
              <a:latin typeface="JetBrains Mono"/>
              <a:ea typeface="JetBrains Mono"/>
              <a:cs typeface="JetBrains Mono"/>
              <a:sym typeface="JetBrains Mono"/>
            </a:endParaRPr>
          </a:p>
        </p:txBody>
      </p:sp>
      <p:sp>
        <p:nvSpPr>
          <p:cNvPr id="230" name="Google Shape;230;p30"/>
          <p:cNvSpPr txBox="1"/>
          <p:nvPr/>
        </p:nvSpPr>
        <p:spPr>
          <a:xfrm>
            <a:off x="6241662" y="1820695"/>
            <a:ext cx="24291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2300"/>
              <a:buFont typeface="Arial"/>
              <a:buNone/>
            </a:pPr>
            <a:r>
              <a:rPr b="1" lang="en-GB">
                <a:solidFill>
                  <a:srgbClr val="4EBA65"/>
                </a:solidFill>
                <a:latin typeface="JetBrains Mono"/>
                <a:ea typeface="JetBrains Mono"/>
                <a:cs typeface="JetBrains Mono"/>
                <a:sym typeface="JetBrains Mono"/>
              </a:rPr>
              <a:t>CTO</a:t>
            </a:r>
            <a:endParaRPr b="1">
              <a:solidFill>
                <a:srgbClr val="4EBA65"/>
              </a:solidFill>
              <a:latin typeface="JetBrains Mono"/>
              <a:ea typeface="JetBrains Mono"/>
              <a:cs typeface="JetBrains Mono"/>
              <a:sym typeface="JetBrains Mono"/>
            </a:endParaRPr>
          </a:p>
        </p:txBody>
      </p:sp>
      <p:sp>
        <p:nvSpPr>
          <p:cNvPr id="231" name="Google Shape;231;p30"/>
          <p:cNvSpPr/>
          <p:nvPr/>
        </p:nvSpPr>
        <p:spPr>
          <a:xfrm>
            <a:off x="388550" y="3699175"/>
            <a:ext cx="8281200" cy="1188000"/>
          </a:xfrm>
          <a:prstGeom prst="rect">
            <a:avLst/>
          </a:prstGeom>
          <a:solidFill>
            <a:srgbClr val="161B22"/>
          </a:solidFill>
          <a:ln>
            <a:noFill/>
          </a:ln>
          <a:effectLst>
            <a:outerShdw blurRad="242888" rotWithShape="0" algn="bl" dir="5400000" dist="9525">
              <a:schemeClr val="accent3">
                <a:alpha val="44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Calibri"/>
              <a:ea typeface="Calibri"/>
              <a:cs typeface="Calibri"/>
              <a:sym typeface="Calibri"/>
            </a:endParaRPr>
          </a:p>
        </p:txBody>
      </p:sp>
      <p:sp>
        <p:nvSpPr>
          <p:cNvPr id="232" name="Google Shape;232;p30"/>
          <p:cNvSpPr txBox="1"/>
          <p:nvPr/>
        </p:nvSpPr>
        <p:spPr>
          <a:xfrm>
            <a:off x="506649" y="3776275"/>
            <a:ext cx="3524100" cy="309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2741"/>
              <a:buFont typeface="Arial"/>
              <a:buNone/>
            </a:pPr>
            <a:r>
              <a:rPr b="1" lang="en-GB" sz="2011">
                <a:solidFill>
                  <a:srgbClr val="F5F5F5"/>
                </a:solidFill>
                <a:latin typeface="JetBrains Mono"/>
                <a:ea typeface="JetBrains Mono"/>
                <a:cs typeface="JetBrains Mono"/>
                <a:sym typeface="JetBrains Mono"/>
              </a:rPr>
              <a:t>TEAM ACHIEVEMENTS </a:t>
            </a:r>
            <a:endParaRPr b="1" sz="2011">
              <a:solidFill>
                <a:srgbClr val="F5F5F5"/>
              </a:solidFill>
              <a:latin typeface="JetBrains Mono"/>
              <a:ea typeface="JetBrains Mono"/>
              <a:cs typeface="JetBrains Mono"/>
              <a:sym typeface="JetBrains Mono"/>
            </a:endParaRPr>
          </a:p>
        </p:txBody>
      </p:sp>
      <p:pic>
        <p:nvPicPr>
          <p:cNvPr id="233" name="Google Shape;233;p30" title="hackeurope-logo-(white).png"/>
          <p:cNvPicPr preferRelativeResize="0"/>
          <p:nvPr/>
        </p:nvPicPr>
        <p:blipFill>
          <a:blip r:embed="rId7">
            <a:alphaModFix/>
          </a:blip>
          <a:stretch>
            <a:fillRect/>
          </a:stretch>
        </p:blipFill>
        <p:spPr>
          <a:xfrm>
            <a:off x="1488015" y="4244977"/>
            <a:ext cx="957025" cy="230383"/>
          </a:xfrm>
          <a:prstGeom prst="rect">
            <a:avLst/>
          </a:prstGeom>
          <a:solidFill>
            <a:srgbClr val="161B22"/>
          </a:solidFill>
          <a:ln>
            <a:noFill/>
          </a:ln>
        </p:spPr>
      </p:pic>
      <p:pic>
        <p:nvPicPr>
          <p:cNvPr id="234" name="Google Shape;234;p30"/>
          <p:cNvPicPr preferRelativeResize="0"/>
          <p:nvPr/>
        </p:nvPicPr>
        <p:blipFill>
          <a:blip r:embed="rId8">
            <a:alphaModFix/>
          </a:blip>
          <a:stretch>
            <a:fillRect/>
          </a:stretch>
        </p:blipFill>
        <p:spPr>
          <a:xfrm>
            <a:off x="754882" y="4257875"/>
            <a:ext cx="468200" cy="279760"/>
          </a:xfrm>
          <a:prstGeom prst="rect">
            <a:avLst/>
          </a:prstGeom>
          <a:solidFill>
            <a:srgbClr val="161B22"/>
          </a:solidFill>
          <a:ln>
            <a:noFill/>
          </a:ln>
        </p:spPr>
      </p:pic>
      <p:sp>
        <p:nvSpPr>
          <p:cNvPr id="235" name="Google Shape;235;p30"/>
          <p:cNvSpPr txBox="1"/>
          <p:nvPr/>
        </p:nvSpPr>
        <p:spPr>
          <a:xfrm>
            <a:off x="506650" y="4634454"/>
            <a:ext cx="3300000" cy="169200"/>
          </a:xfrm>
          <a:prstGeom prst="rect">
            <a:avLst/>
          </a:prstGeom>
          <a:noFill/>
          <a:ln>
            <a:noFill/>
          </a:ln>
          <a:effectLst>
            <a:outerShdw blurRad="214313" rotWithShape="0" algn="bl" dir="5400000" dist="38100">
              <a:srgbClr val="FFC802">
                <a:alpha val="32000"/>
              </a:srgbClr>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2460"/>
              <a:buFont typeface="Arial"/>
              <a:buNone/>
            </a:pPr>
            <a:r>
              <a:rPr b="1" lang="en-GB" sz="1100">
                <a:solidFill>
                  <a:srgbClr val="FFC802"/>
                </a:solidFill>
                <a:latin typeface="JetBrains Mono"/>
                <a:ea typeface="JetBrains Mono"/>
                <a:cs typeface="JetBrains Mono"/>
                <a:sym typeface="JetBrains Mono"/>
              </a:rPr>
              <a:t>   $3,000       $500          $200</a:t>
            </a:r>
            <a:endParaRPr b="1" sz="1100">
              <a:solidFill>
                <a:srgbClr val="FFC802"/>
              </a:solidFill>
              <a:latin typeface="JetBrains Mono"/>
              <a:ea typeface="JetBrains Mono"/>
              <a:cs typeface="JetBrains Mono"/>
              <a:sym typeface="JetBrains Mono"/>
            </a:endParaRPr>
          </a:p>
        </p:txBody>
      </p:sp>
      <p:sp>
        <p:nvSpPr>
          <p:cNvPr id="236" name="Google Shape;236;p30"/>
          <p:cNvSpPr txBox="1"/>
          <p:nvPr/>
        </p:nvSpPr>
        <p:spPr>
          <a:xfrm>
            <a:off x="3678510" y="4057549"/>
            <a:ext cx="1144800" cy="428100"/>
          </a:xfrm>
          <a:prstGeom prst="rect">
            <a:avLst/>
          </a:prstGeom>
          <a:noFill/>
          <a:ln>
            <a:noFill/>
          </a:ln>
        </p:spPr>
        <p:txBody>
          <a:bodyPr anchorCtr="0" anchor="t" bIns="97800" lIns="97800" spcFirstLastPara="1" rIns="97800" wrap="square" tIns="97800">
            <a:spAutoFit/>
          </a:bodyPr>
          <a:lstStyle/>
          <a:p>
            <a:pPr indent="0" lvl="0" marL="0" rtl="0" algn="ctr">
              <a:lnSpc>
                <a:spcPct val="115000"/>
              </a:lnSpc>
              <a:spcBef>
                <a:spcPts val="0"/>
              </a:spcBef>
              <a:spcAft>
                <a:spcPts val="0"/>
              </a:spcAft>
              <a:buNone/>
            </a:pPr>
            <a:r>
              <a:rPr b="1" lang="en-GB" sz="1498">
                <a:solidFill>
                  <a:schemeClr val="lt1"/>
                </a:solidFill>
                <a:latin typeface="Times New Roman"/>
                <a:ea typeface="Times New Roman"/>
                <a:cs typeface="Times New Roman"/>
                <a:sym typeface="Times New Roman"/>
              </a:rPr>
              <a:t>Give(a)Go</a:t>
            </a:r>
            <a:endParaRPr b="1" sz="1498">
              <a:solidFill>
                <a:schemeClr val="lt1"/>
              </a:solidFill>
              <a:latin typeface="Times New Roman"/>
              <a:ea typeface="Times New Roman"/>
              <a:cs typeface="Times New Roman"/>
              <a:sym typeface="Times New Roman"/>
            </a:endParaRPr>
          </a:p>
        </p:txBody>
      </p:sp>
      <p:pic>
        <p:nvPicPr>
          <p:cNvPr id="237" name="Google Shape;237;p30"/>
          <p:cNvPicPr preferRelativeResize="0"/>
          <p:nvPr/>
        </p:nvPicPr>
        <p:blipFill rotWithShape="1">
          <a:blip r:embed="rId9">
            <a:alphaModFix/>
          </a:blip>
          <a:srcRect b="19280" l="10419" r="10411" t="-19280"/>
          <a:stretch/>
        </p:blipFill>
        <p:spPr>
          <a:xfrm>
            <a:off x="2817652" y="4031900"/>
            <a:ext cx="645421" cy="522539"/>
          </a:xfrm>
          <a:prstGeom prst="rect">
            <a:avLst/>
          </a:prstGeom>
          <a:noFill/>
          <a:ln>
            <a:noFill/>
          </a:ln>
        </p:spPr>
      </p:pic>
      <p:pic>
        <p:nvPicPr>
          <p:cNvPr id="238" name="Google Shape;238;p30"/>
          <p:cNvPicPr preferRelativeResize="0"/>
          <p:nvPr/>
        </p:nvPicPr>
        <p:blipFill>
          <a:blip r:embed="rId10">
            <a:alphaModFix/>
          </a:blip>
          <a:stretch>
            <a:fillRect/>
          </a:stretch>
        </p:blipFill>
        <p:spPr>
          <a:xfrm>
            <a:off x="5702976" y="4046167"/>
            <a:ext cx="1271366" cy="451029"/>
          </a:xfrm>
          <a:prstGeom prst="rect">
            <a:avLst/>
          </a:prstGeom>
          <a:noFill/>
          <a:ln>
            <a:noFill/>
          </a:ln>
        </p:spPr>
      </p:pic>
      <p:sp>
        <p:nvSpPr>
          <p:cNvPr id="239" name="Google Shape;239;p30"/>
          <p:cNvSpPr txBox="1"/>
          <p:nvPr/>
        </p:nvSpPr>
        <p:spPr>
          <a:xfrm>
            <a:off x="3885468" y="4633400"/>
            <a:ext cx="3188400" cy="169200"/>
          </a:xfrm>
          <a:prstGeom prst="rect">
            <a:avLst/>
          </a:prstGeom>
          <a:noFill/>
          <a:ln>
            <a:noFill/>
          </a:ln>
          <a:effectLst>
            <a:outerShdw blurRad="214313" rotWithShape="0" algn="bl" dir="5400000" dist="38100">
              <a:srgbClr val="FFC802">
                <a:alpha val="32000"/>
              </a:srgbClr>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2461"/>
              <a:buFont typeface="Arial"/>
              <a:buNone/>
            </a:pPr>
            <a:r>
              <a:rPr b="1" lang="en-GB" sz="1100">
                <a:solidFill>
                  <a:srgbClr val="FFC802"/>
                </a:solidFill>
                <a:latin typeface="JetBrains Mono"/>
                <a:ea typeface="JetBrains Mono"/>
                <a:cs typeface="JetBrains Mono"/>
                <a:sym typeface="JetBrains Mono"/>
              </a:rPr>
              <a:t>  $500      Ongoing       Ongoing</a:t>
            </a:r>
            <a:endParaRPr b="1" sz="1100">
              <a:solidFill>
                <a:srgbClr val="FFC802"/>
              </a:solidFill>
              <a:latin typeface="JetBrains Mono"/>
              <a:ea typeface="JetBrains Mono"/>
              <a:cs typeface="JetBrains Mono"/>
              <a:sym typeface="JetBrains Mono"/>
            </a:endParaRPr>
          </a:p>
        </p:txBody>
      </p:sp>
      <p:pic>
        <p:nvPicPr>
          <p:cNvPr id="240" name="Google Shape;240;p30"/>
          <p:cNvPicPr preferRelativeResize="0"/>
          <p:nvPr/>
        </p:nvPicPr>
        <p:blipFill>
          <a:blip r:embed="rId11">
            <a:alphaModFix/>
          </a:blip>
          <a:stretch>
            <a:fillRect/>
          </a:stretch>
        </p:blipFill>
        <p:spPr>
          <a:xfrm>
            <a:off x="698698" y="3055955"/>
            <a:ext cx="957026" cy="297887"/>
          </a:xfrm>
          <a:prstGeom prst="rect">
            <a:avLst/>
          </a:prstGeom>
          <a:noFill/>
          <a:ln>
            <a:noFill/>
          </a:ln>
        </p:spPr>
      </p:pic>
      <p:pic>
        <p:nvPicPr>
          <p:cNvPr id="241" name="Google Shape;241;p30"/>
          <p:cNvPicPr preferRelativeResize="0"/>
          <p:nvPr/>
        </p:nvPicPr>
        <p:blipFill>
          <a:blip r:embed="rId12">
            <a:alphaModFix/>
          </a:blip>
          <a:stretch>
            <a:fillRect/>
          </a:stretch>
        </p:blipFill>
        <p:spPr>
          <a:xfrm>
            <a:off x="1817452" y="3025545"/>
            <a:ext cx="563451" cy="445994"/>
          </a:xfrm>
          <a:prstGeom prst="rect">
            <a:avLst/>
          </a:prstGeom>
          <a:noFill/>
          <a:ln>
            <a:noFill/>
          </a:ln>
        </p:spPr>
      </p:pic>
      <p:pic>
        <p:nvPicPr>
          <p:cNvPr id="242" name="Google Shape;242;p30"/>
          <p:cNvPicPr preferRelativeResize="0"/>
          <p:nvPr/>
        </p:nvPicPr>
        <p:blipFill>
          <a:blip r:embed="rId13">
            <a:alphaModFix/>
          </a:blip>
          <a:stretch>
            <a:fillRect/>
          </a:stretch>
        </p:blipFill>
        <p:spPr>
          <a:xfrm>
            <a:off x="6737650" y="3053000"/>
            <a:ext cx="648325" cy="348815"/>
          </a:xfrm>
          <a:prstGeom prst="rect">
            <a:avLst/>
          </a:prstGeom>
          <a:noFill/>
          <a:ln>
            <a:noFill/>
          </a:ln>
        </p:spPr>
      </p:pic>
      <p:pic>
        <p:nvPicPr>
          <p:cNvPr id="243" name="Google Shape;243;p30"/>
          <p:cNvPicPr preferRelativeResize="0"/>
          <p:nvPr/>
        </p:nvPicPr>
        <p:blipFill>
          <a:blip r:embed="rId12">
            <a:alphaModFix/>
          </a:blip>
          <a:stretch>
            <a:fillRect/>
          </a:stretch>
        </p:blipFill>
        <p:spPr>
          <a:xfrm>
            <a:off x="7668448" y="3017125"/>
            <a:ext cx="563451" cy="445986"/>
          </a:xfrm>
          <a:prstGeom prst="rect">
            <a:avLst/>
          </a:prstGeom>
          <a:noFill/>
          <a:ln>
            <a:noFill/>
          </a:ln>
        </p:spPr>
      </p:pic>
      <p:pic>
        <p:nvPicPr>
          <p:cNvPr id="244" name="Google Shape;244;p30"/>
          <p:cNvPicPr preferRelativeResize="0"/>
          <p:nvPr/>
        </p:nvPicPr>
        <p:blipFill>
          <a:blip r:embed="rId14">
            <a:alphaModFix/>
          </a:blip>
          <a:stretch>
            <a:fillRect/>
          </a:stretch>
        </p:blipFill>
        <p:spPr>
          <a:xfrm>
            <a:off x="3731125" y="3056825"/>
            <a:ext cx="762300" cy="429219"/>
          </a:xfrm>
          <a:prstGeom prst="rect">
            <a:avLst/>
          </a:prstGeom>
          <a:noFill/>
          <a:ln>
            <a:noFill/>
          </a:ln>
        </p:spPr>
      </p:pic>
      <p:pic>
        <p:nvPicPr>
          <p:cNvPr id="245" name="Google Shape;245;p30"/>
          <p:cNvPicPr preferRelativeResize="0"/>
          <p:nvPr/>
        </p:nvPicPr>
        <p:blipFill>
          <a:blip r:embed="rId15">
            <a:alphaModFix/>
          </a:blip>
          <a:stretch>
            <a:fillRect/>
          </a:stretch>
        </p:blipFill>
        <p:spPr>
          <a:xfrm>
            <a:off x="4795495" y="3050403"/>
            <a:ext cx="408950" cy="412985"/>
          </a:xfrm>
          <a:prstGeom prst="rect">
            <a:avLst/>
          </a:prstGeom>
          <a:noFill/>
          <a:ln>
            <a:noFill/>
          </a:ln>
        </p:spPr>
      </p:pic>
      <p:pic>
        <p:nvPicPr>
          <p:cNvPr id="246" name="Google Shape;246;p30"/>
          <p:cNvPicPr preferRelativeResize="0"/>
          <p:nvPr/>
        </p:nvPicPr>
        <p:blipFill>
          <a:blip r:embed="rId16">
            <a:alphaModFix/>
          </a:blip>
          <a:stretch>
            <a:fillRect/>
          </a:stretch>
        </p:blipFill>
        <p:spPr>
          <a:xfrm>
            <a:off x="7164560" y="4010401"/>
            <a:ext cx="1297015" cy="251900"/>
          </a:xfrm>
          <a:prstGeom prst="rect">
            <a:avLst/>
          </a:prstGeom>
          <a:noFill/>
          <a:ln>
            <a:noFill/>
          </a:ln>
        </p:spPr>
      </p:pic>
      <p:sp>
        <p:nvSpPr>
          <p:cNvPr id="247" name="Google Shape;247;p30"/>
          <p:cNvSpPr txBox="1"/>
          <p:nvPr/>
        </p:nvSpPr>
        <p:spPr>
          <a:xfrm>
            <a:off x="7128313" y="4278088"/>
            <a:ext cx="14892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2300"/>
              <a:buFont typeface="Arial"/>
              <a:buNone/>
            </a:pPr>
            <a:r>
              <a:rPr b="1" lang="en-GB" sz="1100">
                <a:solidFill>
                  <a:srgbClr val="F5F5F5"/>
                </a:solidFill>
                <a:latin typeface="JetBrains Mono"/>
                <a:ea typeface="JetBrains Mono"/>
                <a:cs typeface="JetBrains Mono"/>
                <a:sym typeface="JetBrains Mono"/>
              </a:rPr>
              <a:t>2025 PROJECT:</a:t>
            </a:r>
            <a:endParaRPr b="1" sz="1100">
              <a:solidFill>
                <a:srgbClr val="F5F5F5"/>
              </a:solidFill>
              <a:latin typeface="JetBrains Mono"/>
              <a:ea typeface="JetBrains Mono"/>
              <a:cs typeface="JetBrains Mono"/>
              <a:sym typeface="JetBrains Mono"/>
            </a:endParaRPr>
          </a:p>
        </p:txBody>
      </p:sp>
      <p:pic>
        <p:nvPicPr>
          <p:cNvPr id="248" name="Google Shape;248;p30"/>
          <p:cNvPicPr preferRelativeResize="0"/>
          <p:nvPr/>
        </p:nvPicPr>
        <p:blipFill>
          <a:blip r:embed="rId17">
            <a:alphaModFix/>
          </a:blip>
          <a:stretch>
            <a:fillRect/>
          </a:stretch>
        </p:blipFill>
        <p:spPr>
          <a:xfrm>
            <a:off x="7334552" y="4477875"/>
            <a:ext cx="957025" cy="183490"/>
          </a:xfrm>
          <a:prstGeom prst="rect">
            <a:avLst/>
          </a:prstGeom>
          <a:noFill/>
          <a:ln>
            <a:noFill/>
          </a:ln>
        </p:spPr>
      </p:pic>
      <p:pic>
        <p:nvPicPr>
          <p:cNvPr id="249" name="Google Shape;249;p30"/>
          <p:cNvPicPr preferRelativeResize="0"/>
          <p:nvPr/>
        </p:nvPicPr>
        <p:blipFill>
          <a:blip r:embed="rId18">
            <a:alphaModFix/>
          </a:blip>
          <a:stretch>
            <a:fillRect/>
          </a:stretch>
        </p:blipFill>
        <p:spPr>
          <a:xfrm>
            <a:off x="4873346" y="4079063"/>
            <a:ext cx="563450" cy="428223"/>
          </a:xfrm>
          <a:prstGeom prst="rect">
            <a:avLst/>
          </a:prstGeom>
          <a:noFill/>
          <a:ln>
            <a:noFill/>
          </a:ln>
        </p:spPr>
      </p:pic>
    </p:spTree>
  </p:cSld>
  <p:clrMapOvr>
    <a:masterClrMapping/>
  </p:clrMapOvr>
  <mc:AlternateContent>
    <mc:Choice Requires="p14">
      <p:transition p14:dur="2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pic>
        <p:nvPicPr>
          <p:cNvPr id="254" name="Google Shape;254;p31" title="Screenshot 2026-05-09 at 9.10.30 PM.png"/>
          <p:cNvPicPr preferRelativeResize="0"/>
          <p:nvPr/>
        </p:nvPicPr>
        <p:blipFill rotWithShape="1">
          <a:blip r:embed="rId4">
            <a:alphaModFix amt="28000"/>
          </a:blip>
          <a:srcRect b="2544" l="0" r="0" t="0"/>
          <a:stretch/>
        </p:blipFill>
        <p:spPr>
          <a:xfrm>
            <a:off x="-1" y="219899"/>
            <a:ext cx="9144003" cy="4703701"/>
          </a:xfrm>
          <a:prstGeom prst="rect">
            <a:avLst/>
          </a:prstGeom>
          <a:noFill/>
          <a:ln>
            <a:noFill/>
          </a:ln>
        </p:spPr>
      </p:pic>
      <p:pic>
        <p:nvPicPr>
          <p:cNvPr descr="image.png" id="255" name="Google Shape;255;p31"/>
          <p:cNvPicPr preferRelativeResize="0"/>
          <p:nvPr/>
        </p:nvPicPr>
        <p:blipFill rotWithShape="1">
          <a:blip r:embed="rId5">
            <a:alphaModFix/>
          </a:blip>
          <a:srcRect b="0" l="0" r="0" t="0"/>
          <a:stretch/>
        </p:blipFill>
        <p:spPr>
          <a:xfrm>
            <a:off x="1177501" y="1715732"/>
            <a:ext cx="3388144" cy="2076951"/>
          </a:xfrm>
          <a:prstGeom prst="rect">
            <a:avLst/>
          </a:prstGeom>
          <a:noFill/>
          <a:ln>
            <a:noFill/>
          </a:ln>
        </p:spPr>
      </p:pic>
      <p:pic>
        <p:nvPicPr>
          <p:cNvPr descr="image.png" id="256" name="Google Shape;256;p31"/>
          <p:cNvPicPr preferRelativeResize="0"/>
          <p:nvPr/>
        </p:nvPicPr>
        <p:blipFill rotWithShape="1">
          <a:blip r:embed="rId6">
            <a:alphaModFix/>
          </a:blip>
          <a:srcRect b="0" l="0" r="0" t="0"/>
          <a:stretch/>
        </p:blipFill>
        <p:spPr>
          <a:xfrm>
            <a:off x="4975017" y="1456866"/>
            <a:ext cx="24081" cy="2335812"/>
          </a:xfrm>
          <a:prstGeom prst="rect">
            <a:avLst/>
          </a:prstGeom>
          <a:noFill/>
          <a:ln>
            <a:noFill/>
          </a:ln>
        </p:spPr>
      </p:pic>
      <p:pic>
        <p:nvPicPr>
          <p:cNvPr descr="image.png" id="257" name="Google Shape;257;p31"/>
          <p:cNvPicPr preferRelativeResize="0"/>
          <p:nvPr/>
        </p:nvPicPr>
        <p:blipFill rotWithShape="1">
          <a:blip r:embed="rId7">
            <a:alphaModFix/>
          </a:blip>
          <a:srcRect b="0" l="0" r="0" t="0"/>
          <a:stretch/>
        </p:blipFill>
        <p:spPr>
          <a:xfrm>
            <a:off x="4884714" y="2052860"/>
            <a:ext cx="204685" cy="1143825"/>
          </a:xfrm>
          <a:prstGeom prst="rect">
            <a:avLst/>
          </a:prstGeom>
          <a:noFill/>
          <a:ln>
            <a:noFill/>
          </a:ln>
        </p:spPr>
      </p:pic>
      <p:pic>
        <p:nvPicPr>
          <p:cNvPr descr="image.png" id="258" name="Google Shape;258;p31"/>
          <p:cNvPicPr preferRelativeResize="0"/>
          <p:nvPr/>
        </p:nvPicPr>
        <p:blipFill rotWithShape="1">
          <a:blip r:embed="rId8">
            <a:alphaModFix/>
          </a:blip>
          <a:srcRect b="0" l="0" r="0" t="0"/>
          <a:stretch/>
        </p:blipFill>
        <p:spPr>
          <a:xfrm>
            <a:off x="5408471" y="1715732"/>
            <a:ext cx="2258772" cy="2076945"/>
          </a:xfrm>
          <a:prstGeom prst="rect">
            <a:avLst/>
          </a:prstGeom>
          <a:noFill/>
          <a:ln>
            <a:noFill/>
          </a:ln>
        </p:spPr>
      </p:pic>
      <p:pic>
        <p:nvPicPr>
          <p:cNvPr descr="image.png" id="259" name="Google Shape;259;p31"/>
          <p:cNvPicPr preferRelativeResize="0"/>
          <p:nvPr/>
        </p:nvPicPr>
        <p:blipFill rotWithShape="1">
          <a:blip r:embed="rId9">
            <a:alphaModFix/>
          </a:blip>
          <a:srcRect b="0" l="0" r="0" t="0"/>
          <a:stretch/>
        </p:blipFill>
        <p:spPr>
          <a:xfrm>
            <a:off x="1370147" y="1916246"/>
            <a:ext cx="1257644" cy="1691657"/>
          </a:xfrm>
          <a:prstGeom prst="rect">
            <a:avLst/>
          </a:prstGeom>
          <a:noFill/>
          <a:ln>
            <a:noFill/>
          </a:ln>
        </p:spPr>
      </p:pic>
      <p:pic>
        <p:nvPicPr>
          <p:cNvPr descr="image.png" id="260" name="Google Shape;260;p31"/>
          <p:cNvPicPr preferRelativeResize="0"/>
          <p:nvPr/>
        </p:nvPicPr>
        <p:blipFill rotWithShape="1">
          <a:blip r:embed="rId10">
            <a:alphaModFix/>
          </a:blip>
          <a:srcRect b="0" l="0" r="0" t="0"/>
          <a:stretch/>
        </p:blipFill>
        <p:spPr>
          <a:xfrm>
            <a:off x="3115437" y="1916246"/>
            <a:ext cx="1257655" cy="1691662"/>
          </a:xfrm>
          <a:prstGeom prst="rect">
            <a:avLst/>
          </a:prstGeom>
          <a:noFill/>
          <a:ln>
            <a:noFill/>
          </a:ln>
        </p:spPr>
      </p:pic>
      <p:pic>
        <p:nvPicPr>
          <p:cNvPr descr="image.png" id="261" name="Google Shape;261;p31"/>
          <p:cNvPicPr preferRelativeResize="0"/>
          <p:nvPr/>
        </p:nvPicPr>
        <p:blipFill rotWithShape="1">
          <a:blip r:embed="rId11">
            <a:alphaModFix/>
          </a:blip>
          <a:srcRect b="0" l="0" r="0" t="0"/>
          <a:stretch/>
        </p:blipFill>
        <p:spPr>
          <a:xfrm>
            <a:off x="5600997" y="3339913"/>
            <a:ext cx="1873483" cy="240805"/>
          </a:xfrm>
          <a:prstGeom prst="rect">
            <a:avLst/>
          </a:prstGeom>
          <a:noFill/>
          <a:ln>
            <a:noFill/>
          </a:ln>
        </p:spPr>
      </p:pic>
      <p:sp>
        <p:nvSpPr>
          <p:cNvPr id="262" name="Google Shape;262;p31"/>
          <p:cNvSpPr txBox="1"/>
          <p:nvPr/>
        </p:nvSpPr>
        <p:spPr>
          <a:xfrm>
            <a:off x="1177501" y="1456866"/>
            <a:ext cx="3387900" cy="131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GB" sz="853" u="none" cap="none" strike="noStrike">
                <a:solidFill>
                  <a:srgbClr val="8B8B8B"/>
                </a:solidFill>
                <a:latin typeface="JetBrains Mono"/>
                <a:ea typeface="JetBrains Mono"/>
                <a:cs typeface="JetBrains Mono"/>
                <a:sym typeface="JetBrains Mono"/>
              </a:rPr>
              <a:t>OFF-CHAIN (LOCAL MACHINE)</a:t>
            </a:r>
            <a:endParaRPr sz="885"/>
          </a:p>
        </p:txBody>
      </p:sp>
      <p:sp>
        <p:nvSpPr>
          <p:cNvPr id="263" name="Google Shape;263;p31"/>
          <p:cNvSpPr txBox="1"/>
          <p:nvPr/>
        </p:nvSpPr>
        <p:spPr>
          <a:xfrm>
            <a:off x="5408471" y="1456866"/>
            <a:ext cx="2259000" cy="131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GB" sz="853" u="none" cap="none" strike="noStrike">
                <a:solidFill>
                  <a:srgbClr val="8B8B8B"/>
                </a:solidFill>
                <a:latin typeface="JetBrains Mono"/>
                <a:ea typeface="JetBrains Mono"/>
                <a:cs typeface="JetBrains Mono"/>
                <a:sym typeface="JetBrains Mono"/>
              </a:rPr>
              <a:t>ON-CHAIN (</a:t>
            </a:r>
            <a:r>
              <a:rPr b="1" lang="en-GB" sz="853">
                <a:solidFill>
                  <a:srgbClr val="8B8B8B"/>
                </a:solidFill>
                <a:latin typeface="JetBrains Mono"/>
                <a:ea typeface="JetBrains Mono"/>
                <a:cs typeface="JetBrains Mono"/>
                <a:sym typeface="JetBrains Mono"/>
              </a:rPr>
              <a:t>DEV</a:t>
            </a:r>
            <a:r>
              <a:rPr b="1" i="0" lang="en-GB" sz="853" u="none" cap="none" strike="noStrike">
                <a:solidFill>
                  <a:srgbClr val="8B8B8B"/>
                </a:solidFill>
                <a:latin typeface="JetBrains Mono"/>
                <a:ea typeface="JetBrains Mono"/>
                <a:cs typeface="JetBrains Mono"/>
                <a:sym typeface="JetBrains Mono"/>
              </a:rPr>
              <a:t>NET)</a:t>
            </a:r>
            <a:endParaRPr sz="885"/>
          </a:p>
        </p:txBody>
      </p:sp>
      <p:pic>
        <p:nvPicPr>
          <p:cNvPr descr="image.png" id="264" name="Google Shape;264;p31"/>
          <p:cNvPicPr preferRelativeResize="0"/>
          <p:nvPr/>
        </p:nvPicPr>
        <p:blipFill rotWithShape="1">
          <a:blip r:embed="rId12">
            <a:alphaModFix/>
          </a:blip>
          <a:srcRect b="0" l="0" r="0" t="0"/>
          <a:stretch/>
        </p:blipFill>
        <p:spPr>
          <a:xfrm>
            <a:off x="6387315" y="2036649"/>
            <a:ext cx="301010" cy="240806"/>
          </a:xfrm>
          <a:prstGeom prst="rect">
            <a:avLst/>
          </a:prstGeom>
          <a:noFill/>
          <a:ln>
            <a:noFill/>
          </a:ln>
        </p:spPr>
      </p:pic>
      <p:sp>
        <p:nvSpPr>
          <p:cNvPr id="265" name="Google Shape;265;p31"/>
          <p:cNvSpPr txBox="1"/>
          <p:nvPr/>
        </p:nvSpPr>
        <p:spPr>
          <a:xfrm>
            <a:off x="5601117" y="2397858"/>
            <a:ext cx="1873500" cy="21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GB" sz="1425" u="none" cap="none" strike="noStrike">
                <a:solidFill>
                  <a:srgbClr val="F5F5F5"/>
                </a:solidFill>
                <a:latin typeface="JetBrains Mono"/>
                <a:ea typeface="JetBrains Mono"/>
                <a:cs typeface="JetBrains Mono"/>
                <a:sym typeface="JetBrains Mono"/>
              </a:rPr>
              <a:t>3. SOLANA NETWORK</a:t>
            </a:r>
            <a:endParaRPr sz="1267"/>
          </a:p>
        </p:txBody>
      </p:sp>
      <p:sp>
        <p:nvSpPr>
          <p:cNvPr id="266" name="Google Shape;266;p31"/>
          <p:cNvSpPr txBox="1"/>
          <p:nvPr/>
        </p:nvSpPr>
        <p:spPr>
          <a:xfrm>
            <a:off x="5601021" y="2803149"/>
            <a:ext cx="1873500" cy="365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i="0" lang="en-GB" sz="949" u="none" cap="none" strike="noStrike">
                <a:solidFill>
                  <a:srgbClr val="8B8B8B"/>
                </a:solidFill>
                <a:latin typeface="Inter"/>
                <a:ea typeface="Inter"/>
                <a:cs typeface="Inter"/>
                <a:sym typeface="Inter"/>
              </a:rPr>
              <a:t>Only receives transactions that have passed the S</a:t>
            </a:r>
            <a:r>
              <a:rPr lang="en-GB" sz="949">
                <a:solidFill>
                  <a:srgbClr val="8B8B8B"/>
                </a:solidFill>
                <a:latin typeface="Inter"/>
                <a:ea typeface="Inter"/>
                <a:cs typeface="Inter"/>
                <a:sym typeface="Inter"/>
              </a:rPr>
              <a:t>AK </a:t>
            </a:r>
            <a:r>
              <a:rPr i="0" lang="en-GB" sz="949" u="none" cap="none" strike="noStrike">
                <a:solidFill>
                  <a:srgbClr val="8B8B8B"/>
                </a:solidFill>
                <a:latin typeface="Inter"/>
                <a:ea typeface="Inter"/>
                <a:cs typeface="Inter"/>
                <a:sym typeface="Inter"/>
              </a:rPr>
              <a:t>simulation.</a:t>
            </a:r>
            <a:endParaRPr sz="1076"/>
          </a:p>
        </p:txBody>
      </p:sp>
      <p:pic>
        <p:nvPicPr>
          <p:cNvPr descr="image.png" id="267" name="Google Shape;267;p31"/>
          <p:cNvPicPr preferRelativeResize="0"/>
          <p:nvPr/>
        </p:nvPicPr>
        <p:blipFill rotWithShape="1">
          <a:blip r:embed="rId13">
            <a:alphaModFix/>
          </a:blip>
          <a:srcRect b="0" l="0" r="0" t="0"/>
          <a:stretch/>
        </p:blipFill>
        <p:spPr>
          <a:xfrm>
            <a:off x="1537856" y="2501257"/>
            <a:ext cx="944605" cy="240806"/>
          </a:xfrm>
          <a:prstGeom prst="rect">
            <a:avLst/>
          </a:prstGeom>
          <a:noFill/>
          <a:ln>
            <a:noFill/>
          </a:ln>
        </p:spPr>
      </p:pic>
      <p:sp>
        <p:nvSpPr>
          <p:cNvPr id="268" name="Google Shape;268;p31"/>
          <p:cNvSpPr txBox="1"/>
          <p:nvPr/>
        </p:nvSpPr>
        <p:spPr>
          <a:xfrm>
            <a:off x="1449049" y="2862466"/>
            <a:ext cx="1154700" cy="16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GB" sz="1043" u="none" cap="none" strike="noStrike">
                <a:solidFill>
                  <a:srgbClr val="F5F5F5"/>
                </a:solidFill>
                <a:latin typeface="JetBrains Mono"/>
                <a:ea typeface="JetBrains Mono"/>
                <a:cs typeface="JetBrains Mono"/>
                <a:sym typeface="JetBrains Mono"/>
              </a:rPr>
              <a:t>1. LLM AGENT</a:t>
            </a:r>
            <a:endParaRPr sz="885"/>
          </a:p>
        </p:txBody>
      </p:sp>
      <p:pic>
        <p:nvPicPr>
          <p:cNvPr descr="image.png" id="269" name="Google Shape;269;p31"/>
          <p:cNvPicPr preferRelativeResize="0"/>
          <p:nvPr/>
        </p:nvPicPr>
        <p:blipFill rotWithShape="1">
          <a:blip r:embed="rId14">
            <a:alphaModFix/>
          </a:blip>
          <a:srcRect b="0" l="0" r="0" t="0"/>
          <a:stretch/>
        </p:blipFill>
        <p:spPr>
          <a:xfrm>
            <a:off x="3277560" y="2547887"/>
            <a:ext cx="944597" cy="240805"/>
          </a:xfrm>
          <a:prstGeom prst="rect">
            <a:avLst/>
          </a:prstGeom>
          <a:noFill/>
          <a:ln>
            <a:noFill/>
          </a:ln>
        </p:spPr>
      </p:pic>
      <p:sp>
        <p:nvSpPr>
          <p:cNvPr id="270" name="Google Shape;270;p31"/>
          <p:cNvSpPr txBox="1"/>
          <p:nvPr/>
        </p:nvSpPr>
        <p:spPr>
          <a:xfrm>
            <a:off x="3227492" y="2909088"/>
            <a:ext cx="1033500" cy="16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GB" sz="1043" u="none" cap="none" strike="noStrike">
                <a:solidFill>
                  <a:srgbClr val="F5F5F5"/>
                </a:solidFill>
                <a:latin typeface="JetBrains Mono"/>
                <a:ea typeface="JetBrains Mono"/>
                <a:cs typeface="JetBrains Mono"/>
                <a:sym typeface="JetBrains Mono"/>
              </a:rPr>
              <a:t>2. SAK KERNEL</a:t>
            </a:r>
            <a:endParaRPr sz="885"/>
          </a:p>
        </p:txBody>
      </p:sp>
      <p:pic>
        <p:nvPicPr>
          <p:cNvPr descr="image.png" id="271" name="Google Shape;271;p31"/>
          <p:cNvPicPr preferRelativeResize="0"/>
          <p:nvPr/>
        </p:nvPicPr>
        <p:blipFill rotWithShape="1">
          <a:blip r:embed="rId15">
            <a:alphaModFix/>
          </a:blip>
          <a:srcRect b="0" l="0" r="0" t="0"/>
          <a:stretch/>
        </p:blipFill>
        <p:spPr>
          <a:xfrm>
            <a:off x="5767360" y="3380113"/>
            <a:ext cx="137478" cy="160422"/>
          </a:xfrm>
          <a:prstGeom prst="rect">
            <a:avLst/>
          </a:prstGeom>
          <a:noFill/>
          <a:ln>
            <a:noFill/>
          </a:ln>
        </p:spPr>
      </p:pic>
      <p:cxnSp>
        <p:nvCxnSpPr>
          <p:cNvPr id="272" name="Google Shape;272;p31"/>
          <p:cNvCxnSpPr>
            <a:stCxn id="259" idx="3"/>
            <a:endCxn id="260" idx="1"/>
          </p:cNvCxnSpPr>
          <p:nvPr/>
        </p:nvCxnSpPr>
        <p:spPr>
          <a:xfrm>
            <a:off x="2627791" y="2762075"/>
            <a:ext cx="487500" cy="0"/>
          </a:xfrm>
          <a:prstGeom prst="straightConnector1">
            <a:avLst/>
          </a:prstGeom>
          <a:noFill/>
          <a:ln cap="flat" cmpd="sng" w="18200">
            <a:solidFill>
              <a:schemeClr val="lt1"/>
            </a:solidFill>
            <a:prstDash val="solid"/>
            <a:round/>
            <a:headEnd len="med" w="med" type="none"/>
            <a:tailEnd len="med" w="med" type="triangle"/>
          </a:ln>
        </p:spPr>
      </p:cxnSp>
      <p:pic>
        <p:nvPicPr>
          <p:cNvPr id="273" name="Google Shape;273;p31"/>
          <p:cNvPicPr preferRelativeResize="0"/>
          <p:nvPr/>
        </p:nvPicPr>
        <p:blipFill rotWithShape="1">
          <a:blip r:embed="rId16">
            <a:alphaModFix/>
          </a:blip>
          <a:srcRect b="0" l="0" r="0" t="0"/>
          <a:stretch/>
        </p:blipFill>
        <p:spPr>
          <a:xfrm>
            <a:off x="359050" y="4661625"/>
            <a:ext cx="1650929" cy="409500"/>
          </a:xfrm>
          <a:prstGeom prst="rect">
            <a:avLst/>
          </a:prstGeom>
          <a:noFill/>
          <a:ln>
            <a:noFill/>
          </a:ln>
        </p:spPr>
      </p:pic>
      <p:sp>
        <p:nvSpPr>
          <p:cNvPr id="274" name="Google Shape;274;p31"/>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5" name="Google Shape;275;p31"/>
          <p:cNvSpPr txBox="1"/>
          <p:nvPr/>
        </p:nvSpPr>
        <p:spPr>
          <a:xfrm>
            <a:off x="531429" y="317731"/>
            <a:ext cx="8536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lang="en-GB" sz="2300">
                <a:solidFill>
                  <a:srgbClr val="F5F5F5"/>
                </a:solidFill>
                <a:latin typeface="JetBrains Mono"/>
                <a:ea typeface="JetBrains Mono"/>
                <a:cs typeface="JetBrains Mono"/>
                <a:sym typeface="JetBrains Mono"/>
              </a:rPr>
              <a:t>FILLING THE GAP</a:t>
            </a:r>
            <a:endParaRPr b="0" i="0" sz="1100" u="none" cap="none" strike="noStrike">
              <a:solidFill>
                <a:srgbClr val="000000"/>
              </a:solidFill>
              <a:latin typeface="Arial"/>
              <a:ea typeface="Arial"/>
              <a:cs typeface="Arial"/>
              <a:sym typeface="Arial"/>
            </a:endParaRPr>
          </a:p>
        </p:txBody>
      </p:sp>
      <p:sp>
        <p:nvSpPr>
          <p:cNvPr id="276" name="Google Shape;276;p31"/>
          <p:cNvSpPr txBox="1"/>
          <p:nvPr/>
        </p:nvSpPr>
        <p:spPr>
          <a:xfrm>
            <a:off x="1127088" y="4224475"/>
            <a:ext cx="6889800" cy="29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lang="en-GB" sz="1900">
                <a:solidFill>
                  <a:srgbClr val="4EBA65"/>
                </a:solidFill>
                <a:latin typeface="JetBrains Mono"/>
                <a:ea typeface="JetBrains Mono"/>
                <a:cs typeface="JetBrains Mono"/>
                <a:sym typeface="JetBrains Mono"/>
              </a:rPr>
              <a:t>THE DETERMINISTIC RUNTIME FOR AUTONOMOUS AGENTS</a:t>
            </a:r>
            <a:endParaRPr b="0" i="0" sz="1900" u="none" cap="none" strike="noStrike">
              <a:solidFill>
                <a:srgbClr val="000000"/>
              </a:solidFill>
              <a:latin typeface="Arial"/>
              <a:ea typeface="Arial"/>
              <a:cs typeface="Arial"/>
              <a:sym typeface="Arial"/>
            </a:endParaRPr>
          </a:p>
        </p:txBody>
      </p:sp>
      <p:sp>
        <p:nvSpPr>
          <p:cNvPr id="277" name="Google Shape;277;p31"/>
          <p:cNvSpPr txBox="1"/>
          <p:nvPr/>
        </p:nvSpPr>
        <p:spPr>
          <a:xfrm>
            <a:off x="3347850" y="918050"/>
            <a:ext cx="24483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300"/>
              <a:buFont typeface="Arial"/>
              <a:buNone/>
            </a:pPr>
            <a:r>
              <a:rPr lang="en-GB" sz="1900" u="sng">
                <a:solidFill>
                  <a:srgbClr val="F1C232"/>
                </a:solidFill>
                <a:latin typeface="JetBrains Mono"/>
                <a:ea typeface="JetBrains Mono"/>
                <a:cs typeface="JetBrains Mono"/>
                <a:sym typeface="JetBrains Mono"/>
              </a:rPr>
              <a:t>BUILT FOR SOLANA</a:t>
            </a:r>
            <a:endParaRPr sz="700" u="sng" cap="none" strike="noStrike">
              <a:solidFill>
                <a:srgbClr val="F1C232"/>
              </a:solidFil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81" name="Shape 281"/>
        <p:cNvGrpSpPr/>
        <p:nvPr/>
      </p:nvGrpSpPr>
      <p:grpSpPr>
        <a:xfrm>
          <a:off x="0" y="0"/>
          <a:ext cx="0" cy="0"/>
          <a:chOff x="0" y="0"/>
          <a:chExt cx="0" cy="0"/>
        </a:xfrm>
      </p:grpSpPr>
      <p:sp>
        <p:nvSpPr>
          <p:cNvPr id="282" name="Google Shape;282;p32"/>
          <p:cNvSpPr/>
          <p:nvPr/>
        </p:nvSpPr>
        <p:spPr>
          <a:xfrm>
            <a:off x="4865774" y="1439789"/>
            <a:ext cx="2458500" cy="2493300"/>
          </a:xfrm>
          <a:prstGeom prst="flowChartConnector">
            <a:avLst/>
          </a:prstGeom>
          <a:noFill/>
          <a:ln cap="flat" cmpd="sng" w="37600">
            <a:solidFill>
              <a:srgbClr val="4EBA65"/>
            </a:solidFill>
            <a:prstDash val="solid"/>
            <a:round/>
            <a:headEnd len="sm" w="sm" type="none"/>
            <a:tailEnd len="sm" w="sm" type="none"/>
          </a:ln>
          <a:effectLst>
            <a:reflection blurRad="0" dir="5400000" dist="103323" endA="0" endPos="16000" fadeDir="5400012" kx="0" rotWithShape="0" algn="bl" stA="14000" stPos="0" sy="-100000" ky="0"/>
          </a:effectLst>
        </p:spPr>
        <p:txBody>
          <a:bodyPr anchorCtr="0" anchor="ctr" bIns="90150" lIns="90150" spcFirstLastPara="1" rIns="90150" wrap="square" tIns="90150">
            <a:noAutofit/>
          </a:bodyPr>
          <a:lstStyle/>
          <a:p>
            <a:pPr indent="0" lvl="0" marL="0" rtl="0" algn="ctr">
              <a:spcBef>
                <a:spcPts val="0"/>
              </a:spcBef>
              <a:spcAft>
                <a:spcPts val="0"/>
              </a:spcAft>
              <a:buNone/>
            </a:pPr>
            <a:r>
              <a:t/>
            </a:r>
            <a:endParaRPr sz="1381">
              <a:latin typeface="Calibri"/>
              <a:ea typeface="Calibri"/>
              <a:cs typeface="Calibri"/>
              <a:sym typeface="Calibri"/>
            </a:endParaRPr>
          </a:p>
        </p:txBody>
      </p:sp>
      <p:sp>
        <p:nvSpPr>
          <p:cNvPr id="283" name="Google Shape;283;p32"/>
          <p:cNvSpPr/>
          <p:nvPr/>
        </p:nvSpPr>
        <p:spPr>
          <a:xfrm>
            <a:off x="6314886" y="1439789"/>
            <a:ext cx="2458500" cy="2493300"/>
          </a:xfrm>
          <a:prstGeom prst="flowChartConnector">
            <a:avLst/>
          </a:prstGeom>
          <a:noFill/>
          <a:ln cap="flat" cmpd="sng" w="37600">
            <a:solidFill>
              <a:srgbClr val="873FE2"/>
            </a:solidFill>
            <a:prstDash val="solid"/>
            <a:round/>
            <a:headEnd len="sm" w="sm" type="none"/>
            <a:tailEnd len="sm" w="sm" type="none"/>
          </a:ln>
          <a:effectLst>
            <a:reflection blurRad="0" dir="5400000" dist="103323" endA="0" endPos="16000" fadeDir="5400012" kx="0" rotWithShape="0" algn="bl" stA="14000" stPos="0" sy="-100000" ky="0"/>
          </a:effectLst>
        </p:spPr>
        <p:txBody>
          <a:bodyPr anchorCtr="0" anchor="ctr" bIns="90150" lIns="90150" spcFirstLastPara="1" rIns="90150" wrap="square" tIns="90150">
            <a:noAutofit/>
          </a:bodyPr>
          <a:lstStyle/>
          <a:p>
            <a:pPr indent="0" lvl="0" marL="0" rtl="0" algn="ctr">
              <a:spcBef>
                <a:spcPts val="0"/>
              </a:spcBef>
              <a:spcAft>
                <a:spcPts val="0"/>
              </a:spcAft>
              <a:buNone/>
            </a:pPr>
            <a:r>
              <a:t/>
            </a:r>
            <a:endParaRPr sz="1381">
              <a:latin typeface="Calibri"/>
              <a:ea typeface="Calibri"/>
              <a:cs typeface="Calibri"/>
              <a:sym typeface="Calibri"/>
            </a:endParaRPr>
          </a:p>
        </p:txBody>
      </p:sp>
      <p:sp>
        <p:nvSpPr>
          <p:cNvPr id="284" name="Google Shape;284;p32"/>
          <p:cNvSpPr txBox="1"/>
          <p:nvPr/>
        </p:nvSpPr>
        <p:spPr>
          <a:xfrm>
            <a:off x="5085640" y="2332643"/>
            <a:ext cx="1298700" cy="707400"/>
          </a:xfrm>
          <a:prstGeom prst="rect">
            <a:avLst/>
          </a:prstGeom>
          <a:noFill/>
          <a:ln>
            <a:noFill/>
          </a:ln>
        </p:spPr>
        <p:txBody>
          <a:bodyPr anchorCtr="0" anchor="t" bIns="90150" lIns="90150" spcFirstLastPara="1" rIns="90150" wrap="square" tIns="90150">
            <a:noAutofit/>
          </a:bodyPr>
          <a:lstStyle/>
          <a:p>
            <a:pPr indent="0" lvl="0" marL="0" rtl="0" algn="l">
              <a:spcBef>
                <a:spcPts val="0"/>
              </a:spcBef>
              <a:spcAft>
                <a:spcPts val="0"/>
              </a:spcAft>
              <a:buNone/>
            </a:pPr>
            <a:r>
              <a:rPr b="1" lang="en-GB" sz="3254">
                <a:solidFill>
                  <a:srgbClr val="4EBA65"/>
                </a:solidFill>
                <a:latin typeface="Calibri"/>
                <a:ea typeface="Calibri"/>
                <a:cs typeface="Calibri"/>
                <a:sym typeface="Calibri"/>
              </a:rPr>
              <a:t>$120B</a:t>
            </a:r>
            <a:endParaRPr b="1" sz="3254">
              <a:solidFill>
                <a:srgbClr val="4EBA65"/>
              </a:solidFill>
              <a:latin typeface="Calibri"/>
              <a:ea typeface="Calibri"/>
              <a:cs typeface="Calibri"/>
              <a:sym typeface="Calibri"/>
            </a:endParaRPr>
          </a:p>
        </p:txBody>
      </p:sp>
      <p:sp>
        <p:nvSpPr>
          <p:cNvPr id="285" name="Google Shape;285;p32"/>
          <p:cNvSpPr txBox="1"/>
          <p:nvPr/>
        </p:nvSpPr>
        <p:spPr>
          <a:xfrm>
            <a:off x="7485412" y="2332643"/>
            <a:ext cx="1125000" cy="707400"/>
          </a:xfrm>
          <a:prstGeom prst="rect">
            <a:avLst/>
          </a:prstGeom>
          <a:noFill/>
          <a:ln>
            <a:noFill/>
          </a:ln>
        </p:spPr>
        <p:txBody>
          <a:bodyPr anchorCtr="0" anchor="t" bIns="90150" lIns="90150" spcFirstLastPara="1" rIns="90150" wrap="square" tIns="90150">
            <a:noAutofit/>
          </a:bodyPr>
          <a:lstStyle/>
          <a:p>
            <a:pPr indent="0" lvl="0" marL="0" rtl="0" algn="l">
              <a:spcBef>
                <a:spcPts val="0"/>
              </a:spcBef>
              <a:spcAft>
                <a:spcPts val="0"/>
              </a:spcAft>
              <a:buNone/>
            </a:pPr>
            <a:r>
              <a:rPr b="1" lang="en-GB" sz="3254">
                <a:solidFill>
                  <a:srgbClr val="873FE2"/>
                </a:solidFill>
                <a:latin typeface="Calibri"/>
                <a:ea typeface="Calibri"/>
                <a:cs typeface="Calibri"/>
                <a:sym typeface="Calibri"/>
              </a:rPr>
              <a:t>$</a:t>
            </a:r>
            <a:r>
              <a:rPr b="1" lang="en-GB" sz="3254">
                <a:solidFill>
                  <a:srgbClr val="873FE2"/>
                </a:solidFill>
                <a:latin typeface="Calibri"/>
                <a:ea typeface="Calibri"/>
                <a:cs typeface="Calibri"/>
                <a:sym typeface="Calibri"/>
              </a:rPr>
              <a:t>45B</a:t>
            </a:r>
            <a:endParaRPr b="1" sz="3254">
              <a:solidFill>
                <a:srgbClr val="873FE2"/>
              </a:solidFill>
              <a:latin typeface="Calibri"/>
              <a:ea typeface="Calibri"/>
              <a:cs typeface="Calibri"/>
              <a:sym typeface="Calibri"/>
            </a:endParaRPr>
          </a:p>
        </p:txBody>
      </p:sp>
      <p:sp>
        <p:nvSpPr>
          <p:cNvPr id="286" name="Google Shape;286;p32"/>
          <p:cNvSpPr txBox="1"/>
          <p:nvPr/>
        </p:nvSpPr>
        <p:spPr>
          <a:xfrm>
            <a:off x="6314886" y="2366221"/>
            <a:ext cx="1125000" cy="640200"/>
          </a:xfrm>
          <a:prstGeom prst="rect">
            <a:avLst/>
          </a:prstGeom>
          <a:noFill/>
          <a:ln>
            <a:noFill/>
          </a:ln>
          <a:effectLst>
            <a:outerShdw blurRad="56358" rotWithShape="0" algn="bl" dir="5400000" dist="18786">
              <a:srgbClr val="FFFFFF">
                <a:alpha val="50000"/>
              </a:srgbClr>
            </a:outerShdw>
          </a:effectLst>
        </p:spPr>
        <p:txBody>
          <a:bodyPr anchorCtr="0" anchor="t" bIns="90150" lIns="90150" spcFirstLastPara="1" rIns="90150" wrap="square" tIns="90150">
            <a:noAutofit/>
          </a:bodyPr>
          <a:lstStyle/>
          <a:p>
            <a:pPr indent="0" lvl="0" marL="0" rtl="0" algn="l">
              <a:spcBef>
                <a:spcPts val="0"/>
              </a:spcBef>
              <a:spcAft>
                <a:spcPts val="0"/>
              </a:spcAft>
              <a:buNone/>
            </a:pPr>
            <a:r>
              <a:rPr b="1" lang="en-GB" sz="2860">
                <a:solidFill>
                  <a:srgbClr val="FFFFFF"/>
                </a:solidFill>
                <a:latin typeface="Calibri"/>
                <a:ea typeface="Calibri"/>
                <a:cs typeface="Calibri"/>
                <a:sym typeface="Calibri"/>
              </a:rPr>
              <a:t>$1.</a:t>
            </a:r>
            <a:r>
              <a:rPr b="1" lang="en-GB" sz="2860">
                <a:solidFill>
                  <a:srgbClr val="FFFFFF"/>
                </a:solidFill>
                <a:latin typeface="Calibri"/>
                <a:ea typeface="Calibri"/>
                <a:cs typeface="Calibri"/>
                <a:sym typeface="Calibri"/>
              </a:rPr>
              <a:t>8B</a:t>
            </a:r>
            <a:endParaRPr b="1" sz="2860">
              <a:solidFill>
                <a:srgbClr val="FFFFFF"/>
              </a:solidFill>
              <a:latin typeface="Calibri"/>
              <a:ea typeface="Calibri"/>
              <a:cs typeface="Calibri"/>
              <a:sym typeface="Calibri"/>
            </a:endParaRPr>
          </a:p>
        </p:txBody>
      </p:sp>
      <p:sp>
        <p:nvSpPr>
          <p:cNvPr id="287" name="Google Shape;287;p32"/>
          <p:cNvSpPr txBox="1"/>
          <p:nvPr/>
        </p:nvSpPr>
        <p:spPr>
          <a:xfrm>
            <a:off x="5138024" y="2163643"/>
            <a:ext cx="1495500" cy="303600"/>
          </a:xfrm>
          <a:prstGeom prst="rect">
            <a:avLst/>
          </a:prstGeom>
          <a:noFill/>
          <a:ln>
            <a:noFill/>
          </a:ln>
        </p:spPr>
        <p:txBody>
          <a:bodyPr anchorCtr="0" anchor="t" bIns="90150" lIns="90150" spcFirstLastPara="1" rIns="90150" wrap="square" tIns="90150">
            <a:spAutoFit/>
          </a:bodyPr>
          <a:lstStyle/>
          <a:p>
            <a:pPr indent="0" lvl="0" marL="0" rtl="0" algn="l">
              <a:lnSpc>
                <a:spcPct val="115000"/>
              </a:lnSpc>
              <a:spcBef>
                <a:spcPts val="0"/>
              </a:spcBef>
              <a:spcAft>
                <a:spcPts val="394"/>
              </a:spcAft>
              <a:buNone/>
            </a:pPr>
            <a:r>
              <a:rPr lang="en-GB" sz="789">
                <a:solidFill>
                  <a:srgbClr val="F8FAFC"/>
                </a:solidFill>
              </a:rPr>
              <a:t>DeFi Algorithmic Bots</a:t>
            </a:r>
            <a:endParaRPr sz="789">
              <a:solidFill>
                <a:srgbClr val="F8FAFC"/>
              </a:solidFill>
            </a:endParaRPr>
          </a:p>
        </p:txBody>
      </p:sp>
      <p:sp>
        <p:nvSpPr>
          <p:cNvPr id="288" name="Google Shape;288;p32"/>
          <p:cNvSpPr txBox="1"/>
          <p:nvPr/>
        </p:nvSpPr>
        <p:spPr>
          <a:xfrm>
            <a:off x="6060116" y="2163643"/>
            <a:ext cx="1495500" cy="303600"/>
          </a:xfrm>
          <a:prstGeom prst="rect">
            <a:avLst/>
          </a:prstGeom>
          <a:noFill/>
          <a:ln>
            <a:noFill/>
          </a:ln>
        </p:spPr>
        <p:txBody>
          <a:bodyPr anchorCtr="0" anchor="t" bIns="90150" lIns="90150" spcFirstLastPara="1" rIns="90150" wrap="square" tIns="90150">
            <a:spAutoFit/>
          </a:bodyPr>
          <a:lstStyle/>
          <a:p>
            <a:pPr indent="0" lvl="0" marL="0" rtl="0" algn="ctr">
              <a:lnSpc>
                <a:spcPct val="115000"/>
              </a:lnSpc>
              <a:spcBef>
                <a:spcPts val="0"/>
              </a:spcBef>
              <a:spcAft>
                <a:spcPts val="394"/>
              </a:spcAft>
              <a:buNone/>
            </a:pPr>
            <a:r>
              <a:rPr lang="en-GB" sz="789">
                <a:solidFill>
                  <a:srgbClr val="FFFFFF"/>
                </a:solidFill>
              </a:rPr>
              <a:t>Autonomous AI Agents</a:t>
            </a:r>
            <a:endParaRPr sz="789">
              <a:solidFill>
                <a:srgbClr val="F8FAFC"/>
              </a:solidFill>
            </a:endParaRPr>
          </a:p>
        </p:txBody>
      </p:sp>
      <p:sp>
        <p:nvSpPr>
          <p:cNvPr id="289" name="Google Shape;289;p32"/>
          <p:cNvSpPr txBox="1"/>
          <p:nvPr/>
        </p:nvSpPr>
        <p:spPr>
          <a:xfrm>
            <a:off x="7300214" y="2163643"/>
            <a:ext cx="1495500" cy="303600"/>
          </a:xfrm>
          <a:prstGeom prst="rect">
            <a:avLst/>
          </a:prstGeom>
          <a:noFill/>
          <a:ln>
            <a:noFill/>
          </a:ln>
        </p:spPr>
        <p:txBody>
          <a:bodyPr anchorCtr="0" anchor="t" bIns="90150" lIns="90150" spcFirstLastPara="1" rIns="90150" wrap="square" tIns="90150">
            <a:spAutoFit/>
          </a:bodyPr>
          <a:lstStyle/>
          <a:p>
            <a:pPr indent="0" lvl="0" marL="0" rtl="0" algn="ctr">
              <a:lnSpc>
                <a:spcPct val="115000"/>
              </a:lnSpc>
              <a:spcBef>
                <a:spcPts val="0"/>
              </a:spcBef>
              <a:spcAft>
                <a:spcPts val="394"/>
              </a:spcAft>
              <a:buNone/>
            </a:pPr>
            <a:r>
              <a:rPr lang="en-GB" sz="789">
                <a:solidFill>
                  <a:srgbClr val="F8FAFC"/>
                </a:solidFill>
              </a:rPr>
              <a:t>Enterprise AI agents</a:t>
            </a:r>
            <a:endParaRPr sz="789">
              <a:solidFill>
                <a:srgbClr val="F8FAFC"/>
              </a:solidFill>
            </a:endParaRPr>
          </a:p>
        </p:txBody>
      </p:sp>
      <p:sp>
        <p:nvSpPr>
          <p:cNvPr id="290" name="Google Shape;290;p32"/>
          <p:cNvSpPr txBox="1"/>
          <p:nvPr/>
        </p:nvSpPr>
        <p:spPr>
          <a:xfrm>
            <a:off x="4987267" y="2936828"/>
            <a:ext cx="1495500" cy="303600"/>
          </a:xfrm>
          <a:prstGeom prst="rect">
            <a:avLst/>
          </a:prstGeom>
          <a:noFill/>
          <a:ln>
            <a:noFill/>
          </a:ln>
        </p:spPr>
        <p:txBody>
          <a:bodyPr anchorCtr="0" anchor="t" bIns="90150" lIns="90150" spcFirstLastPara="1" rIns="90150" wrap="square" tIns="90150">
            <a:spAutoFit/>
          </a:bodyPr>
          <a:lstStyle/>
          <a:p>
            <a:pPr indent="0" lvl="0" marL="0" rtl="0" algn="ctr">
              <a:lnSpc>
                <a:spcPct val="115000"/>
              </a:lnSpc>
              <a:spcBef>
                <a:spcPts val="0"/>
              </a:spcBef>
              <a:spcAft>
                <a:spcPts val="394"/>
              </a:spcAft>
              <a:buNone/>
            </a:pPr>
            <a:r>
              <a:rPr lang="en-GB" sz="789">
                <a:solidFill>
                  <a:srgbClr val="8B8B8B"/>
                </a:solidFill>
              </a:rPr>
              <a:t>Monthly Tx volume</a:t>
            </a:r>
            <a:endParaRPr sz="789">
              <a:solidFill>
                <a:srgbClr val="8B8B8B"/>
              </a:solidFill>
            </a:endParaRPr>
          </a:p>
        </p:txBody>
      </p:sp>
      <p:sp>
        <p:nvSpPr>
          <p:cNvPr id="291" name="Google Shape;291;p32"/>
          <p:cNvSpPr txBox="1"/>
          <p:nvPr/>
        </p:nvSpPr>
        <p:spPr>
          <a:xfrm>
            <a:off x="6060116" y="2936828"/>
            <a:ext cx="1495500" cy="303600"/>
          </a:xfrm>
          <a:prstGeom prst="rect">
            <a:avLst/>
          </a:prstGeom>
          <a:noFill/>
          <a:ln>
            <a:noFill/>
          </a:ln>
        </p:spPr>
        <p:txBody>
          <a:bodyPr anchorCtr="0" anchor="t" bIns="90150" lIns="90150" spcFirstLastPara="1" rIns="90150" wrap="square" tIns="90150">
            <a:spAutoFit/>
          </a:bodyPr>
          <a:lstStyle/>
          <a:p>
            <a:pPr indent="0" lvl="0" marL="0" rtl="0" algn="ctr">
              <a:lnSpc>
                <a:spcPct val="115000"/>
              </a:lnSpc>
              <a:spcBef>
                <a:spcPts val="0"/>
              </a:spcBef>
              <a:spcAft>
                <a:spcPts val="394"/>
              </a:spcAft>
              <a:buNone/>
            </a:pPr>
            <a:r>
              <a:rPr lang="en-GB" sz="789">
                <a:solidFill>
                  <a:srgbClr val="FFFFFF"/>
                </a:solidFill>
              </a:rPr>
              <a:t>Monthly on chain volume</a:t>
            </a:r>
            <a:endParaRPr sz="789">
              <a:solidFill>
                <a:srgbClr val="F8FAFC"/>
              </a:solidFill>
            </a:endParaRPr>
          </a:p>
        </p:txBody>
      </p:sp>
      <p:sp>
        <p:nvSpPr>
          <p:cNvPr id="292" name="Google Shape;292;p32"/>
          <p:cNvSpPr txBox="1"/>
          <p:nvPr/>
        </p:nvSpPr>
        <p:spPr>
          <a:xfrm>
            <a:off x="7300214" y="2936828"/>
            <a:ext cx="1495500" cy="303600"/>
          </a:xfrm>
          <a:prstGeom prst="rect">
            <a:avLst/>
          </a:prstGeom>
          <a:noFill/>
          <a:ln>
            <a:noFill/>
          </a:ln>
        </p:spPr>
        <p:txBody>
          <a:bodyPr anchorCtr="0" anchor="t" bIns="90150" lIns="90150" spcFirstLastPara="1" rIns="90150" wrap="square" tIns="90150">
            <a:spAutoFit/>
          </a:bodyPr>
          <a:lstStyle/>
          <a:p>
            <a:pPr indent="0" lvl="0" marL="0" rtl="0" algn="ctr">
              <a:lnSpc>
                <a:spcPct val="115000"/>
              </a:lnSpc>
              <a:spcBef>
                <a:spcPts val="0"/>
              </a:spcBef>
              <a:spcAft>
                <a:spcPts val="394"/>
              </a:spcAft>
              <a:buNone/>
            </a:pPr>
            <a:r>
              <a:rPr lang="en-GB" sz="789">
                <a:solidFill>
                  <a:srgbClr val="8B8B8B"/>
                </a:solidFill>
              </a:rPr>
              <a:t>Total addressable market</a:t>
            </a:r>
            <a:endParaRPr sz="789">
              <a:solidFill>
                <a:srgbClr val="8B8B8B"/>
              </a:solidFill>
            </a:endParaRPr>
          </a:p>
        </p:txBody>
      </p:sp>
      <p:pic>
        <p:nvPicPr>
          <p:cNvPr id="293" name="Google Shape;293;p32"/>
          <p:cNvPicPr preferRelativeResize="0"/>
          <p:nvPr/>
        </p:nvPicPr>
        <p:blipFill rotWithShape="1">
          <a:blip r:embed="rId3">
            <a:alphaModFix/>
          </a:blip>
          <a:srcRect b="0" l="0" r="0" t="0"/>
          <a:stretch/>
        </p:blipFill>
        <p:spPr>
          <a:xfrm>
            <a:off x="372842" y="4651875"/>
            <a:ext cx="1650929" cy="409500"/>
          </a:xfrm>
          <a:prstGeom prst="rect">
            <a:avLst/>
          </a:prstGeom>
          <a:noFill/>
          <a:ln>
            <a:noFill/>
          </a:ln>
        </p:spPr>
      </p:pic>
      <p:sp>
        <p:nvSpPr>
          <p:cNvPr id="294" name="Google Shape;294;p32"/>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5" name="Google Shape;295;p32"/>
          <p:cNvSpPr txBox="1"/>
          <p:nvPr/>
        </p:nvSpPr>
        <p:spPr>
          <a:xfrm>
            <a:off x="531429" y="317731"/>
            <a:ext cx="8536200" cy="35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2300"/>
              <a:buFont typeface="Arial"/>
              <a:buNone/>
            </a:pPr>
            <a:r>
              <a:rPr b="1" lang="en-GB" sz="2300">
                <a:solidFill>
                  <a:srgbClr val="FFFFFF"/>
                </a:solidFill>
                <a:latin typeface="JetBrains Mono"/>
                <a:ea typeface="JetBrains Mono"/>
                <a:cs typeface="JetBrains Mono"/>
                <a:sym typeface="JetBrains Mono"/>
              </a:rPr>
              <a:t>BUSINESS MODEL &amp; </a:t>
            </a:r>
            <a:r>
              <a:rPr b="1" lang="en-GB" sz="2300">
                <a:solidFill>
                  <a:srgbClr val="FFFFFF"/>
                </a:solidFill>
                <a:latin typeface="JetBrains Mono"/>
                <a:ea typeface="JetBrains Mono"/>
                <a:cs typeface="JetBrains Mono"/>
                <a:sym typeface="JetBrains Mono"/>
              </a:rPr>
              <a:t>MARKET FEASIBILITY </a:t>
            </a:r>
            <a:endParaRPr b="1" sz="2300">
              <a:solidFill>
                <a:srgbClr val="F5F5F5"/>
              </a:solidFill>
              <a:latin typeface="JetBrains Mono"/>
              <a:ea typeface="JetBrains Mono"/>
              <a:cs typeface="JetBrains Mono"/>
              <a:sym typeface="JetBrains Mono"/>
            </a:endParaRPr>
          </a:p>
        </p:txBody>
      </p:sp>
      <p:pic>
        <p:nvPicPr>
          <p:cNvPr descr="image.png" id="296" name="Google Shape;296;p32"/>
          <p:cNvPicPr preferRelativeResize="0"/>
          <p:nvPr/>
        </p:nvPicPr>
        <p:blipFill>
          <a:blip r:embed="rId4">
            <a:alphaModFix/>
          </a:blip>
          <a:stretch>
            <a:fillRect/>
          </a:stretch>
        </p:blipFill>
        <p:spPr>
          <a:xfrm>
            <a:off x="1305725" y="3972725"/>
            <a:ext cx="2893800" cy="540975"/>
          </a:xfrm>
          <a:prstGeom prst="rect">
            <a:avLst/>
          </a:prstGeom>
          <a:noFill/>
          <a:ln>
            <a:noFill/>
          </a:ln>
        </p:spPr>
      </p:pic>
      <p:pic>
        <p:nvPicPr>
          <p:cNvPr descr="image.png" id="297" name="Google Shape;297;p32"/>
          <p:cNvPicPr preferRelativeResize="0"/>
          <p:nvPr/>
        </p:nvPicPr>
        <p:blipFill>
          <a:blip r:embed="rId5">
            <a:alphaModFix/>
          </a:blip>
          <a:stretch>
            <a:fillRect/>
          </a:stretch>
        </p:blipFill>
        <p:spPr>
          <a:xfrm>
            <a:off x="1447894" y="4140170"/>
            <a:ext cx="257608" cy="206086"/>
          </a:xfrm>
          <a:prstGeom prst="rect">
            <a:avLst/>
          </a:prstGeom>
          <a:noFill/>
          <a:ln>
            <a:noFill/>
          </a:ln>
        </p:spPr>
      </p:pic>
      <p:sp>
        <p:nvSpPr>
          <p:cNvPr id="298" name="Google Shape;298;p32"/>
          <p:cNvSpPr txBox="1"/>
          <p:nvPr/>
        </p:nvSpPr>
        <p:spPr>
          <a:xfrm>
            <a:off x="1757655" y="4014285"/>
            <a:ext cx="663000" cy="457800"/>
          </a:xfrm>
          <a:prstGeom prst="rect">
            <a:avLst/>
          </a:prstGeom>
          <a:noFill/>
          <a:ln>
            <a:noFill/>
          </a:ln>
        </p:spPr>
        <p:txBody>
          <a:bodyPr anchorCtr="0" anchor="t" bIns="82425" lIns="82425" spcFirstLastPara="1" rIns="82425" wrap="square" tIns="82425">
            <a:spAutoFit/>
          </a:bodyPr>
          <a:lstStyle/>
          <a:p>
            <a:pPr indent="0" lvl="0" marL="0" rtl="0" algn="l">
              <a:lnSpc>
                <a:spcPct val="100000"/>
              </a:lnSpc>
              <a:spcBef>
                <a:spcPts val="0"/>
              </a:spcBef>
              <a:spcAft>
                <a:spcPts val="902"/>
              </a:spcAft>
              <a:buNone/>
            </a:pPr>
            <a:r>
              <a:rPr b="1" lang="en-GB" sz="1893">
                <a:solidFill>
                  <a:srgbClr val="4EBA65"/>
                </a:solidFill>
                <a:latin typeface="JetBrains Mono"/>
                <a:ea typeface="JetBrains Mono"/>
                <a:cs typeface="JetBrains Mono"/>
                <a:sym typeface="JetBrains Mono"/>
              </a:rPr>
              <a:t>80+ </a:t>
            </a:r>
            <a:endParaRPr sz="1262"/>
          </a:p>
        </p:txBody>
      </p:sp>
      <p:sp>
        <p:nvSpPr>
          <p:cNvPr id="299" name="Google Shape;299;p32"/>
          <p:cNvSpPr txBox="1"/>
          <p:nvPr/>
        </p:nvSpPr>
        <p:spPr>
          <a:xfrm>
            <a:off x="2291472" y="3996756"/>
            <a:ext cx="1908000" cy="493200"/>
          </a:xfrm>
          <a:prstGeom prst="rect">
            <a:avLst/>
          </a:prstGeom>
          <a:noFill/>
          <a:ln>
            <a:noFill/>
          </a:ln>
        </p:spPr>
        <p:txBody>
          <a:bodyPr anchorCtr="0" anchor="t" bIns="146475" lIns="146475" spcFirstLastPara="1" rIns="146475" wrap="square" tIns="146475">
            <a:spAutoFit/>
          </a:bodyPr>
          <a:lstStyle/>
          <a:p>
            <a:pPr indent="0" lvl="0" marL="0" rtl="0" algn="l">
              <a:lnSpc>
                <a:spcPct val="120000"/>
              </a:lnSpc>
              <a:spcBef>
                <a:spcPts val="0"/>
              </a:spcBef>
              <a:spcAft>
                <a:spcPts val="0"/>
              </a:spcAft>
              <a:buNone/>
            </a:pPr>
            <a:r>
              <a:rPr lang="en-GB" sz="1282">
                <a:solidFill>
                  <a:srgbClr val="F5F5F5"/>
                </a:solidFill>
                <a:latin typeface="Inter"/>
                <a:ea typeface="Inter"/>
                <a:cs typeface="Inter"/>
                <a:sym typeface="Inter"/>
              </a:rPr>
              <a:t>TEAMS WAITLISTED</a:t>
            </a:r>
            <a:endParaRPr sz="1282">
              <a:solidFill>
                <a:schemeClr val="dk1"/>
              </a:solidFill>
            </a:endParaRPr>
          </a:p>
        </p:txBody>
      </p:sp>
      <p:sp>
        <p:nvSpPr>
          <p:cNvPr id="300" name="Google Shape;300;p32"/>
          <p:cNvSpPr txBox="1"/>
          <p:nvPr/>
        </p:nvSpPr>
        <p:spPr>
          <a:xfrm>
            <a:off x="5687477" y="1732179"/>
            <a:ext cx="509400" cy="251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200">
                <a:solidFill>
                  <a:srgbClr val="888888"/>
                </a:solidFill>
                <a:latin typeface="Calibri"/>
                <a:ea typeface="Calibri"/>
                <a:cs typeface="Calibri"/>
                <a:sym typeface="Calibri"/>
              </a:rPr>
              <a:t>TAM</a:t>
            </a:r>
            <a:endParaRPr sz="1200">
              <a:solidFill>
                <a:srgbClr val="888888"/>
              </a:solidFill>
              <a:latin typeface="Calibri"/>
              <a:ea typeface="Calibri"/>
              <a:cs typeface="Calibri"/>
              <a:sym typeface="Calibri"/>
            </a:endParaRPr>
          </a:p>
        </p:txBody>
      </p:sp>
      <p:sp>
        <p:nvSpPr>
          <p:cNvPr id="301" name="Google Shape;301;p32"/>
          <p:cNvSpPr txBox="1"/>
          <p:nvPr/>
        </p:nvSpPr>
        <p:spPr>
          <a:xfrm>
            <a:off x="6553177" y="1917054"/>
            <a:ext cx="509400" cy="251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200">
                <a:solidFill>
                  <a:srgbClr val="888888"/>
                </a:solidFill>
                <a:latin typeface="Calibri"/>
                <a:ea typeface="Calibri"/>
                <a:cs typeface="Calibri"/>
                <a:sym typeface="Calibri"/>
              </a:rPr>
              <a:t>SO</a:t>
            </a:r>
            <a:r>
              <a:rPr lang="en-GB" sz="1200">
                <a:solidFill>
                  <a:srgbClr val="888888"/>
                </a:solidFill>
                <a:latin typeface="Calibri"/>
                <a:ea typeface="Calibri"/>
                <a:cs typeface="Calibri"/>
                <a:sym typeface="Calibri"/>
              </a:rPr>
              <a:t>M</a:t>
            </a:r>
            <a:endParaRPr sz="1200">
              <a:solidFill>
                <a:srgbClr val="888888"/>
              </a:solidFill>
              <a:latin typeface="Calibri"/>
              <a:ea typeface="Calibri"/>
              <a:cs typeface="Calibri"/>
              <a:sym typeface="Calibri"/>
            </a:endParaRPr>
          </a:p>
        </p:txBody>
      </p:sp>
      <p:sp>
        <p:nvSpPr>
          <p:cNvPr id="302" name="Google Shape;302;p32"/>
          <p:cNvSpPr txBox="1"/>
          <p:nvPr/>
        </p:nvSpPr>
        <p:spPr>
          <a:xfrm>
            <a:off x="7418877" y="1786279"/>
            <a:ext cx="509400" cy="251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200">
                <a:solidFill>
                  <a:srgbClr val="888888"/>
                </a:solidFill>
                <a:latin typeface="Calibri"/>
                <a:ea typeface="Calibri"/>
                <a:cs typeface="Calibri"/>
                <a:sym typeface="Calibri"/>
              </a:rPr>
              <a:t>S</a:t>
            </a:r>
            <a:r>
              <a:rPr lang="en-GB" sz="1200">
                <a:solidFill>
                  <a:srgbClr val="888888"/>
                </a:solidFill>
                <a:latin typeface="Calibri"/>
                <a:ea typeface="Calibri"/>
                <a:cs typeface="Calibri"/>
                <a:sym typeface="Calibri"/>
              </a:rPr>
              <a:t>AM</a:t>
            </a:r>
            <a:endParaRPr sz="1200">
              <a:solidFill>
                <a:srgbClr val="888888"/>
              </a:solidFill>
              <a:latin typeface="Calibri"/>
              <a:ea typeface="Calibri"/>
              <a:cs typeface="Calibri"/>
              <a:sym typeface="Calibri"/>
            </a:endParaRPr>
          </a:p>
        </p:txBody>
      </p:sp>
      <p:sp>
        <p:nvSpPr>
          <p:cNvPr id="303" name="Google Shape;303;p32"/>
          <p:cNvSpPr/>
          <p:nvPr/>
        </p:nvSpPr>
        <p:spPr>
          <a:xfrm>
            <a:off x="1305725" y="1340550"/>
            <a:ext cx="2893800" cy="1699500"/>
          </a:xfrm>
          <a:prstGeom prst="roundRect">
            <a:avLst>
              <a:gd fmla="val 16667" name="adj"/>
            </a:avLst>
          </a:prstGeom>
          <a:solidFill>
            <a:srgbClr val="161B22"/>
          </a:solidFill>
          <a:ln cap="flat" cmpd="sng" w="9525">
            <a:solidFill>
              <a:srgbClr val="4EBA6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4" name="Google Shape;304;p32"/>
          <p:cNvSpPr txBox="1"/>
          <p:nvPr/>
        </p:nvSpPr>
        <p:spPr>
          <a:xfrm>
            <a:off x="1526100" y="1691250"/>
            <a:ext cx="2458500" cy="1164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n-GB" sz="3200">
                <a:solidFill>
                  <a:srgbClr val="F5F5F5"/>
                </a:solidFill>
                <a:latin typeface="JetBrains Mono"/>
                <a:ea typeface="JetBrains Mono"/>
                <a:cs typeface="JetBrains Mono"/>
                <a:sym typeface="JetBrains Mono"/>
              </a:rPr>
              <a:t>0.1%</a:t>
            </a:r>
            <a:r>
              <a:rPr b="1" lang="en-GB" sz="2400">
                <a:solidFill>
                  <a:srgbClr val="8B8B8B"/>
                </a:solidFill>
                <a:latin typeface="JetBrains Mono"/>
                <a:ea typeface="JetBrains Mono"/>
                <a:cs typeface="JetBrains Mono"/>
                <a:sym typeface="JetBrains Mono"/>
              </a:rPr>
              <a:t> </a:t>
            </a:r>
            <a:endParaRPr b="1" sz="2400">
              <a:solidFill>
                <a:srgbClr val="8B8B8B"/>
              </a:solidFill>
              <a:latin typeface="JetBrains Mono"/>
              <a:ea typeface="JetBrains Mono"/>
              <a:cs typeface="JetBrains Mono"/>
              <a:sym typeface="JetBrains Mono"/>
            </a:endParaRPr>
          </a:p>
          <a:p>
            <a:pPr indent="0" lvl="0" marL="0" rtl="0" algn="ctr">
              <a:lnSpc>
                <a:spcPct val="120000"/>
              </a:lnSpc>
              <a:spcBef>
                <a:spcPts val="0"/>
              </a:spcBef>
              <a:spcAft>
                <a:spcPts val="0"/>
              </a:spcAft>
              <a:buNone/>
            </a:pPr>
            <a:r>
              <a:rPr b="1" lang="en-GB" sz="1600">
                <a:solidFill>
                  <a:srgbClr val="8B8B8B"/>
                </a:solidFill>
                <a:latin typeface="JetBrains Mono"/>
                <a:ea typeface="JetBrains Mono"/>
                <a:cs typeface="JetBrains Mono"/>
                <a:sym typeface="JetBrains Mono"/>
              </a:rPr>
              <a:t>Per </a:t>
            </a:r>
            <a:r>
              <a:rPr b="1" lang="en-GB" sz="1600">
                <a:solidFill>
                  <a:srgbClr val="8B8B8B"/>
                </a:solidFill>
                <a:latin typeface="JetBrains Mono"/>
                <a:ea typeface="JetBrains Mono"/>
                <a:cs typeface="JetBrains Mono"/>
                <a:sym typeface="JetBrains Mono"/>
              </a:rPr>
              <a:t>Transaction</a:t>
            </a:r>
            <a:r>
              <a:rPr b="1" lang="en-GB" sz="1700">
                <a:solidFill>
                  <a:srgbClr val="8B8B8B"/>
                </a:solidFill>
                <a:latin typeface="JetBrains Mono"/>
                <a:ea typeface="JetBrains Mono"/>
                <a:cs typeface="JetBrains Mono"/>
                <a:sym typeface="JetBrains Mono"/>
              </a:rPr>
              <a:t> </a:t>
            </a:r>
            <a:endParaRPr b="1" sz="1700">
              <a:solidFill>
                <a:srgbClr val="8B8B8B"/>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00">
              <a:solidFill>
                <a:srgbClr val="000000"/>
              </a:solidFill>
            </a:endParaRPr>
          </a:p>
          <a:p>
            <a:pPr indent="0" lvl="0" marL="0" rtl="0" algn="l">
              <a:spcBef>
                <a:spcPts val="0"/>
              </a:spcBef>
              <a:spcAft>
                <a:spcPts val="0"/>
              </a:spcAft>
              <a:buNone/>
            </a:pPr>
            <a:r>
              <a:t/>
            </a:r>
            <a:endParaRPr sz="100">
              <a:solidFill>
                <a:srgbClr val="000000"/>
              </a:solidFill>
            </a:endParaRPr>
          </a:p>
        </p:txBody>
      </p:sp>
      <p:sp>
        <p:nvSpPr>
          <p:cNvPr id="305" name="Google Shape;305;p32"/>
          <p:cNvSpPr txBox="1"/>
          <p:nvPr/>
        </p:nvSpPr>
        <p:spPr>
          <a:xfrm>
            <a:off x="659995" y="3360138"/>
            <a:ext cx="4190700" cy="292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lang="en-GB" sz="1900">
                <a:solidFill>
                  <a:srgbClr val="4EBA65"/>
                </a:solidFill>
                <a:latin typeface="JetBrains Mono"/>
                <a:ea typeface="JetBrains Mono"/>
                <a:cs typeface="JetBrains Mono"/>
                <a:sym typeface="JetBrains Mono"/>
              </a:rPr>
              <a:t>PAY-AS-YOU GO SERVICE MODEL</a:t>
            </a:r>
            <a:endParaRPr b="0" i="0" sz="19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2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09" name="Shape 309"/>
        <p:cNvGrpSpPr/>
        <p:nvPr/>
      </p:nvGrpSpPr>
      <p:grpSpPr>
        <a:xfrm>
          <a:off x="0" y="0"/>
          <a:ext cx="0" cy="0"/>
          <a:chOff x="0" y="0"/>
          <a:chExt cx="0" cy="0"/>
        </a:xfrm>
      </p:grpSpPr>
      <p:sp>
        <p:nvSpPr>
          <p:cNvPr id="310" name="Google Shape;310;p33"/>
          <p:cNvSpPr/>
          <p:nvPr/>
        </p:nvSpPr>
        <p:spPr>
          <a:xfrm>
            <a:off x="605802" y="2587688"/>
            <a:ext cx="7819500" cy="13500"/>
          </a:xfrm>
          <a:prstGeom prst="rect">
            <a:avLst/>
          </a:prstGeom>
          <a:solidFill>
            <a:srgbClr val="30363D"/>
          </a:solidFill>
          <a:ln>
            <a:noFill/>
          </a:ln>
        </p:spPr>
        <p:txBody>
          <a:bodyPr anchorCtr="0" anchor="ctr" bIns="32400" lIns="64825" spcFirstLastPara="1" rIns="64825" wrap="square" tIns="32400">
            <a:noAutofit/>
          </a:bodyPr>
          <a:lstStyle/>
          <a:p>
            <a:pPr indent="0" lvl="0" marL="0" marR="0" rtl="0" algn="ctr">
              <a:lnSpc>
                <a:spcPct val="100000"/>
              </a:lnSpc>
              <a:spcBef>
                <a:spcPts val="0"/>
              </a:spcBef>
              <a:spcAft>
                <a:spcPts val="0"/>
              </a:spcAft>
              <a:buClr>
                <a:srgbClr val="000000"/>
              </a:buClr>
              <a:buSzPts val="1323"/>
              <a:buFont typeface="Arial"/>
              <a:buNone/>
            </a:pPr>
            <a:r>
              <a:t/>
            </a:r>
            <a:endParaRPr b="0" i="0" sz="1323" u="none" cap="none" strike="noStrike">
              <a:solidFill>
                <a:schemeClr val="dk1"/>
              </a:solidFill>
              <a:latin typeface="Calibri"/>
              <a:ea typeface="Calibri"/>
              <a:cs typeface="Calibri"/>
              <a:sym typeface="Calibri"/>
            </a:endParaRPr>
          </a:p>
        </p:txBody>
      </p:sp>
      <p:sp>
        <p:nvSpPr>
          <p:cNvPr id="311" name="Google Shape;311;p33"/>
          <p:cNvSpPr txBox="1"/>
          <p:nvPr/>
        </p:nvSpPr>
        <p:spPr>
          <a:xfrm>
            <a:off x="562783" y="2064291"/>
            <a:ext cx="1806300" cy="159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40"/>
              <a:buFont typeface="Arial"/>
              <a:buNone/>
            </a:pPr>
            <a:r>
              <a:rPr b="1" lang="en-GB" sz="1040">
                <a:solidFill>
                  <a:srgbClr val="4EBA65"/>
                </a:solidFill>
                <a:latin typeface="JetBrains Mono"/>
                <a:ea typeface="JetBrains Mono"/>
                <a:cs typeface="JetBrains Mono"/>
                <a:sym typeface="JetBrains Mono"/>
              </a:rPr>
              <a:t>Q1 2026</a:t>
            </a:r>
            <a:endParaRPr b="0" i="0" sz="1040" u="none" cap="none" strike="noStrike">
              <a:solidFill>
                <a:srgbClr val="000000"/>
              </a:solidFill>
              <a:latin typeface="Arial"/>
              <a:ea typeface="Arial"/>
              <a:cs typeface="Arial"/>
              <a:sym typeface="Arial"/>
            </a:endParaRPr>
          </a:p>
        </p:txBody>
      </p:sp>
      <p:sp>
        <p:nvSpPr>
          <p:cNvPr id="312" name="Google Shape;312;p33"/>
          <p:cNvSpPr txBox="1"/>
          <p:nvPr/>
        </p:nvSpPr>
        <p:spPr>
          <a:xfrm>
            <a:off x="721150" y="2731873"/>
            <a:ext cx="1720200" cy="640200"/>
          </a:xfrm>
          <a:prstGeom prst="rect">
            <a:avLst/>
          </a:prstGeom>
          <a:noFill/>
          <a:ln cap="flat" cmpd="sng" w="9525">
            <a:solidFill>
              <a:srgbClr val="4EBA65"/>
            </a:solidFill>
            <a:prstDash val="solid"/>
            <a:round/>
            <a:headEnd len="sm" w="sm" type="none"/>
            <a:tailEnd len="sm" w="sm" type="none"/>
          </a:ln>
          <a:effectLst>
            <a:outerShdw blurRad="100013" rotWithShape="0" algn="bl" dir="5400000" dist="19050">
              <a:srgbClr val="4EBA65">
                <a:alpha val="31000"/>
              </a:srgbClr>
            </a:outerShdw>
            <a:reflection blurRad="0" dir="5400000" dist="38100" endA="0" endPos="40000" fadeDir="5400012" kx="0" rotWithShape="0" algn="bl" stA="28000" stPos="0" sy="-100000" ky="0"/>
          </a:effectLst>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rPr lang="en-GB" sz="1040">
                <a:solidFill>
                  <a:srgbClr val="F5F5F5"/>
                </a:solidFill>
                <a:latin typeface="Inter"/>
                <a:ea typeface="Inter"/>
                <a:cs typeface="Inter"/>
                <a:sym typeface="Inter"/>
              </a:rPr>
              <a:t>Dev</a:t>
            </a:r>
            <a:r>
              <a:rPr b="0" i="0" lang="en-GB" sz="1040" u="none" cap="none" strike="noStrike">
                <a:solidFill>
                  <a:srgbClr val="F5F5F5"/>
                </a:solidFill>
                <a:latin typeface="Inter"/>
                <a:ea typeface="Inter"/>
                <a:cs typeface="Inter"/>
                <a:sym typeface="Inter"/>
              </a:rPr>
              <a:t>net Beta Launched f</a:t>
            </a:r>
            <a:r>
              <a:rPr lang="en-GB" sz="1040">
                <a:solidFill>
                  <a:srgbClr val="F5F5F5"/>
                </a:solidFill>
                <a:latin typeface="Inter"/>
                <a:ea typeface="Inter"/>
                <a:cs typeface="Inter"/>
                <a:sym typeface="Inter"/>
              </a:rPr>
              <a:t>or</a:t>
            </a:r>
            <a:r>
              <a:rPr b="0" i="0" lang="en-GB" sz="1040" u="none" cap="none" strike="noStrike">
                <a:solidFill>
                  <a:srgbClr val="F5F5F5"/>
                </a:solidFill>
                <a:latin typeface="Inter"/>
                <a:ea typeface="Inter"/>
                <a:cs typeface="Inter"/>
                <a:sym typeface="Inter"/>
              </a:rPr>
              <a:t> Design Partners</a:t>
            </a:r>
            <a:endParaRPr b="0" i="0" sz="1040" u="none" cap="none" strike="noStrike">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p:txBody>
      </p:sp>
      <p:sp>
        <p:nvSpPr>
          <p:cNvPr id="313" name="Google Shape;313;p33"/>
          <p:cNvSpPr txBox="1"/>
          <p:nvPr/>
        </p:nvSpPr>
        <p:spPr>
          <a:xfrm>
            <a:off x="2595809" y="2064291"/>
            <a:ext cx="1806300" cy="159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040"/>
              <a:buFont typeface="Arial"/>
              <a:buNone/>
            </a:pPr>
            <a:r>
              <a:rPr b="1" lang="en-GB" sz="1040">
                <a:solidFill>
                  <a:srgbClr val="F5F5F5"/>
                </a:solidFill>
                <a:latin typeface="JetBrains Mono"/>
                <a:ea typeface="JetBrains Mono"/>
                <a:cs typeface="JetBrains Mono"/>
                <a:sym typeface="JetBrains Mono"/>
              </a:rPr>
              <a:t>Q2 2026</a:t>
            </a:r>
            <a:endParaRPr b="1" sz="1040">
              <a:solidFill>
                <a:srgbClr val="F5F5F5"/>
              </a:solidFill>
              <a:latin typeface="JetBrains Mono"/>
              <a:ea typeface="JetBrains Mono"/>
              <a:cs typeface="JetBrains Mono"/>
              <a:sym typeface="JetBrains Mono"/>
            </a:endParaRPr>
          </a:p>
        </p:txBody>
      </p:sp>
      <p:sp>
        <p:nvSpPr>
          <p:cNvPr id="314" name="Google Shape;314;p33"/>
          <p:cNvSpPr txBox="1"/>
          <p:nvPr/>
        </p:nvSpPr>
        <p:spPr>
          <a:xfrm>
            <a:off x="2638878" y="2731883"/>
            <a:ext cx="1720200" cy="640200"/>
          </a:xfrm>
          <a:prstGeom prst="rect">
            <a:avLst/>
          </a:prstGeom>
          <a:noFill/>
          <a:ln cap="flat" cmpd="sng" w="9525">
            <a:solidFill>
              <a:srgbClr val="D7D4CC"/>
            </a:solidFill>
            <a:prstDash val="solid"/>
            <a:round/>
            <a:headEnd len="sm" w="sm" type="none"/>
            <a:tailEnd len="sm" w="sm" type="none"/>
          </a:ln>
          <a:effectLst>
            <a:outerShdw blurRad="57150" rotWithShape="0" algn="bl" dir="5400000" dist="19050">
              <a:srgbClr val="4EBA65">
                <a:alpha val="50000"/>
              </a:srgbClr>
            </a:outerShdw>
            <a:reflection blurRad="0" dir="5400000" dist="38100" endA="0" endPos="39000" fadeDir="5400012" kx="0" rotWithShape="0" algn="bl" stA="28000" stPos="0" sy="-100000" ky="0"/>
          </a:effectLst>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rPr b="0" i="0" lang="en-GB" sz="1040" u="none" cap="none" strike="noStrike">
                <a:solidFill>
                  <a:srgbClr val="F5F5F5"/>
                </a:solidFill>
                <a:latin typeface="Inter"/>
                <a:ea typeface="Inter"/>
                <a:cs typeface="Inter"/>
                <a:sym typeface="Inter"/>
              </a:rPr>
              <a:t>Public SDK </a:t>
            </a:r>
            <a:r>
              <a:rPr b="0" i="0" lang="en-GB" sz="1040" u="none" cap="none" strike="noStrike">
                <a:solidFill>
                  <a:srgbClr val="F5F5F5"/>
                </a:solidFill>
                <a:latin typeface="Inter"/>
                <a:ea typeface="Inter"/>
                <a:cs typeface="Inter"/>
                <a:sym typeface="Inter"/>
              </a:rPr>
              <a:t>for</a:t>
            </a:r>
            <a:r>
              <a:rPr b="0" i="0" lang="en-GB" sz="1040" u="none" cap="none" strike="noStrike">
                <a:solidFill>
                  <a:srgbClr val="F5F5F5"/>
                </a:solidFill>
                <a:latin typeface="Inter"/>
                <a:ea typeface="Inter"/>
                <a:cs typeface="Inter"/>
                <a:sym typeface="Inter"/>
              </a:rPr>
              <a:t> the</a:t>
            </a:r>
            <a:endParaRPr sz="1040">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rPr b="0" i="0" lang="en-GB" sz="1040" u="none" cap="none" strike="noStrike">
                <a:solidFill>
                  <a:srgbClr val="F5F5F5"/>
                </a:solidFill>
                <a:latin typeface="Inter"/>
                <a:ea typeface="Inter"/>
                <a:cs typeface="Inter"/>
                <a:sym typeface="Inter"/>
              </a:rPr>
              <a:t>Agent Kit &amp; </a:t>
            </a:r>
            <a:r>
              <a:rPr lang="en-GB" sz="1040">
                <a:solidFill>
                  <a:srgbClr val="F5F5F5"/>
                </a:solidFill>
                <a:latin typeface="Inter"/>
                <a:ea typeface="Inter"/>
                <a:cs typeface="Inter"/>
                <a:sym typeface="Inter"/>
              </a:rPr>
              <a:t>community</a:t>
            </a:r>
            <a:r>
              <a:rPr b="0" i="0" lang="en-GB" sz="1040" u="none" cap="none" strike="noStrike">
                <a:solidFill>
                  <a:srgbClr val="F5F5F5"/>
                </a:solidFill>
                <a:latin typeface="Inter"/>
                <a:ea typeface="Inter"/>
                <a:cs typeface="Inter"/>
                <a:sym typeface="Inter"/>
              </a:rPr>
              <a:t> </a:t>
            </a:r>
            <a:endParaRPr b="0" i="0" sz="1040" u="none" cap="none" strike="noStrike">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p:txBody>
      </p:sp>
      <p:sp>
        <p:nvSpPr>
          <p:cNvPr id="315" name="Google Shape;315;p33"/>
          <p:cNvSpPr txBox="1"/>
          <p:nvPr/>
        </p:nvSpPr>
        <p:spPr>
          <a:xfrm>
            <a:off x="4628909" y="2064291"/>
            <a:ext cx="1806300" cy="159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040"/>
              <a:buFont typeface="Arial"/>
              <a:buNone/>
            </a:pPr>
            <a:r>
              <a:rPr b="1" lang="en-GB" sz="1040">
                <a:solidFill>
                  <a:srgbClr val="F5F5F5"/>
                </a:solidFill>
                <a:latin typeface="JetBrains Mono"/>
                <a:ea typeface="JetBrains Mono"/>
                <a:cs typeface="JetBrains Mono"/>
                <a:sym typeface="JetBrains Mono"/>
              </a:rPr>
              <a:t>Q3 2026</a:t>
            </a:r>
            <a:endParaRPr b="0" i="0" sz="1040" u="none" cap="none" strike="noStrike">
              <a:solidFill>
                <a:srgbClr val="F5F5F5"/>
              </a:solidFill>
              <a:latin typeface="Arial"/>
              <a:ea typeface="Arial"/>
              <a:cs typeface="Arial"/>
              <a:sym typeface="Arial"/>
            </a:endParaRPr>
          </a:p>
        </p:txBody>
      </p:sp>
      <p:sp>
        <p:nvSpPr>
          <p:cNvPr id="316" name="Google Shape;316;p33"/>
          <p:cNvSpPr txBox="1"/>
          <p:nvPr/>
        </p:nvSpPr>
        <p:spPr>
          <a:xfrm>
            <a:off x="4671953" y="2731883"/>
            <a:ext cx="1720200" cy="640200"/>
          </a:xfrm>
          <a:prstGeom prst="rect">
            <a:avLst/>
          </a:prstGeom>
          <a:noFill/>
          <a:ln cap="flat" cmpd="sng" w="9525">
            <a:solidFill>
              <a:srgbClr val="888888"/>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rPr b="0" i="0" lang="en-GB" sz="1040" u="none" cap="none" strike="noStrike">
                <a:solidFill>
                  <a:srgbClr val="F5F5F5"/>
                </a:solidFill>
                <a:latin typeface="Inter"/>
                <a:ea typeface="Inter"/>
                <a:cs typeface="Inter"/>
                <a:sym typeface="Inter"/>
              </a:rPr>
              <a:t>Enterprise Tier &amp; VPC Deployment</a:t>
            </a:r>
            <a:endParaRPr b="0" i="0" sz="1040" u="none" cap="none" strike="noStrike">
              <a:solidFill>
                <a:srgbClr val="F5F5F5"/>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t/>
            </a:r>
            <a:endParaRPr sz="1040">
              <a:solidFill>
                <a:srgbClr val="F5F5F5"/>
              </a:solidFill>
              <a:latin typeface="Inter"/>
              <a:ea typeface="Inter"/>
              <a:cs typeface="Inter"/>
              <a:sym typeface="Inter"/>
            </a:endParaRPr>
          </a:p>
        </p:txBody>
      </p:sp>
      <p:sp>
        <p:nvSpPr>
          <p:cNvPr id="317" name="Google Shape;317;p33"/>
          <p:cNvSpPr txBox="1"/>
          <p:nvPr/>
        </p:nvSpPr>
        <p:spPr>
          <a:xfrm>
            <a:off x="6662011" y="2064291"/>
            <a:ext cx="1806300" cy="159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040"/>
              <a:buFont typeface="Arial"/>
              <a:buNone/>
            </a:pPr>
            <a:r>
              <a:rPr b="1" lang="en-GB" sz="1040">
                <a:solidFill>
                  <a:srgbClr val="F5F5F5"/>
                </a:solidFill>
                <a:latin typeface="JetBrains Mono"/>
                <a:ea typeface="JetBrains Mono"/>
                <a:cs typeface="JetBrains Mono"/>
                <a:sym typeface="JetBrains Mono"/>
              </a:rPr>
              <a:t>Q4 2026</a:t>
            </a:r>
            <a:endParaRPr b="1" sz="1040">
              <a:solidFill>
                <a:srgbClr val="F5F5F5"/>
              </a:solidFill>
              <a:latin typeface="JetBrains Mono"/>
              <a:ea typeface="JetBrains Mono"/>
              <a:cs typeface="JetBrains Mono"/>
              <a:sym typeface="JetBrains Mono"/>
            </a:endParaRPr>
          </a:p>
        </p:txBody>
      </p:sp>
      <p:sp>
        <p:nvSpPr>
          <p:cNvPr id="318" name="Google Shape;318;p33"/>
          <p:cNvSpPr txBox="1"/>
          <p:nvPr/>
        </p:nvSpPr>
        <p:spPr>
          <a:xfrm>
            <a:off x="6705029" y="2727233"/>
            <a:ext cx="1720200" cy="658800"/>
          </a:xfrm>
          <a:prstGeom prst="rect">
            <a:avLst/>
          </a:prstGeom>
          <a:noFill/>
          <a:ln cap="flat" cmpd="sng" w="9525">
            <a:solidFill>
              <a:srgbClr val="888888"/>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40"/>
              <a:buFont typeface="Arial"/>
              <a:buNone/>
            </a:pPr>
            <a:r>
              <a:t/>
            </a:r>
            <a:endParaRPr sz="1040">
              <a:solidFill>
                <a:schemeClr val="lt1"/>
              </a:solidFill>
              <a:latin typeface="Inter"/>
              <a:ea typeface="Inter"/>
              <a:cs typeface="Inter"/>
              <a:sym typeface="Inter"/>
            </a:endParaRPr>
          </a:p>
          <a:p>
            <a:pPr indent="0" lvl="0" marL="0" marR="0" rtl="0" algn="ctr">
              <a:lnSpc>
                <a:spcPct val="100000"/>
              </a:lnSpc>
              <a:spcBef>
                <a:spcPts val="0"/>
              </a:spcBef>
              <a:spcAft>
                <a:spcPts val="0"/>
              </a:spcAft>
              <a:buClr>
                <a:srgbClr val="000000"/>
              </a:buClr>
              <a:buSzPts val="1040"/>
              <a:buFont typeface="Arial"/>
              <a:buNone/>
            </a:pPr>
            <a:r>
              <a:rPr b="0" i="0" lang="en-GB" sz="1040" u="none" cap="none" strike="noStrike">
                <a:solidFill>
                  <a:schemeClr val="lt1"/>
                </a:solidFill>
                <a:latin typeface="Inter"/>
                <a:ea typeface="Inter"/>
                <a:cs typeface="Inter"/>
                <a:sym typeface="Inter"/>
              </a:rPr>
              <a:t>Standard for AI </a:t>
            </a:r>
            <a:br>
              <a:rPr b="0" i="0" lang="en-GB" sz="1040" u="none" cap="none" strike="noStrike">
                <a:solidFill>
                  <a:schemeClr val="lt1"/>
                </a:solidFill>
                <a:latin typeface="Inter"/>
                <a:ea typeface="Inter"/>
                <a:cs typeface="Inter"/>
                <a:sym typeface="Inter"/>
              </a:rPr>
            </a:br>
            <a:r>
              <a:rPr lang="en-GB" sz="1100">
                <a:solidFill>
                  <a:schemeClr val="lt1"/>
                </a:solidFill>
              </a:rPr>
              <a:t>Institutional API</a:t>
            </a:r>
            <a:endParaRPr sz="1100">
              <a:solidFill>
                <a:schemeClr val="lt1"/>
              </a:solidFill>
            </a:endParaRPr>
          </a:p>
          <a:p>
            <a:pPr indent="0" lvl="0" marL="0" marR="0" rtl="0" algn="ctr">
              <a:lnSpc>
                <a:spcPct val="100000"/>
              </a:lnSpc>
              <a:spcBef>
                <a:spcPts val="0"/>
              </a:spcBef>
              <a:spcAft>
                <a:spcPts val="0"/>
              </a:spcAft>
              <a:buClr>
                <a:srgbClr val="000000"/>
              </a:buClr>
              <a:buSzPts val="1040"/>
              <a:buFont typeface="Arial"/>
              <a:buNone/>
            </a:pPr>
            <a:r>
              <a:t/>
            </a:r>
            <a:endParaRPr sz="1100">
              <a:solidFill>
                <a:schemeClr val="lt1"/>
              </a:solidFill>
            </a:endParaRPr>
          </a:p>
        </p:txBody>
      </p:sp>
      <p:pic>
        <p:nvPicPr>
          <p:cNvPr id="319" name="Google Shape;319;p33"/>
          <p:cNvPicPr preferRelativeResize="0"/>
          <p:nvPr/>
        </p:nvPicPr>
        <p:blipFill rotWithShape="1">
          <a:blip r:embed="rId3">
            <a:alphaModFix/>
          </a:blip>
          <a:srcRect b="0" l="0" r="0" t="0"/>
          <a:stretch/>
        </p:blipFill>
        <p:spPr>
          <a:xfrm>
            <a:off x="359050" y="4661625"/>
            <a:ext cx="1650929" cy="409500"/>
          </a:xfrm>
          <a:prstGeom prst="rect">
            <a:avLst/>
          </a:prstGeom>
          <a:noFill/>
          <a:ln>
            <a:noFill/>
          </a:ln>
        </p:spPr>
      </p:pic>
      <p:sp>
        <p:nvSpPr>
          <p:cNvPr id="320" name="Google Shape;320;p33"/>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1" name="Google Shape;321;p33"/>
          <p:cNvSpPr txBox="1"/>
          <p:nvPr/>
        </p:nvSpPr>
        <p:spPr>
          <a:xfrm>
            <a:off x="531429" y="317731"/>
            <a:ext cx="8536200" cy="33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174"/>
              <a:buFont typeface="Arial"/>
              <a:buNone/>
            </a:pPr>
            <a:r>
              <a:rPr b="1" lang="en-GB" sz="2174">
                <a:solidFill>
                  <a:srgbClr val="F5F5F5"/>
                </a:solidFill>
                <a:latin typeface="JetBrains Mono"/>
                <a:ea typeface="JetBrains Mono"/>
                <a:cs typeface="JetBrains Mono"/>
                <a:sym typeface="JetBrains Mono"/>
              </a:rPr>
              <a:t>POST HACKATHON ROADMAP</a:t>
            </a:r>
            <a:endParaRPr b="1" sz="2300">
              <a:solidFill>
                <a:schemeClr val="lt1"/>
              </a:solidFill>
              <a:latin typeface="JetBrains Mono"/>
              <a:ea typeface="JetBrains Mono"/>
              <a:cs typeface="JetBrains Mono"/>
              <a:sym typeface="JetBrains Mono"/>
            </a:endParaRPr>
          </a:p>
        </p:txBody>
      </p:sp>
      <p:cxnSp>
        <p:nvCxnSpPr>
          <p:cNvPr id="322" name="Google Shape;322;p33"/>
          <p:cNvCxnSpPr/>
          <p:nvPr/>
        </p:nvCxnSpPr>
        <p:spPr>
          <a:xfrm>
            <a:off x="603252" y="2590688"/>
            <a:ext cx="3610500" cy="1800"/>
          </a:xfrm>
          <a:prstGeom prst="straightConnector1">
            <a:avLst/>
          </a:prstGeom>
          <a:noFill/>
          <a:ln cap="flat" cmpd="sng" w="28575">
            <a:solidFill>
              <a:srgbClr val="4EBA65"/>
            </a:solidFill>
            <a:prstDash val="solid"/>
            <a:round/>
            <a:headEnd len="med" w="med" type="none"/>
            <a:tailEnd len="med" w="med" type="none"/>
          </a:ln>
          <a:effectLst>
            <a:outerShdw blurRad="271463" rotWithShape="0" algn="bl" dir="5400000" dist="19050">
              <a:srgbClr val="4EBA65">
                <a:alpha val="50000"/>
              </a:srgbClr>
            </a:outerShdw>
            <a:reflection blurRad="0" dir="5400000" dist="38100" endA="0" endPos="30000" fadeDir="5400012" kx="0" rotWithShape="0" algn="bl" stA="46000" stPos="0" sy="-100000" ky="0"/>
          </a:effectLst>
        </p:spPr>
      </p:cxnSp>
      <p:sp>
        <p:nvSpPr>
          <p:cNvPr id="323" name="Google Shape;323;p33"/>
          <p:cNvSpPr/>
          <p:nvPr/>
        </p:nvSpPr>
        <p:spPr>
          <a:xfrm>
            <a:off x="1524100" y="2355100"/>
            <a:ext cx="114300" cy="101700"/>
          </a:xfrm>
          <a:prstGeom prst="flowChartConnector">
            <a:avLst/>
          </a:prstGeom>
          <a:solidFill>
            <a:srgbClr val="4EBA65"/>
          </a:solidFill>
          <a:ln cap="flat" cmpd="sng" w="9525">
            <a:solidFill>
              <a:srgbClr val="4EBA65"/>
            </a:solidFill>
            <a:prstDash val="solid"/>
            <a:round/>
            <a:headEnd len="sm" w="sm" type="none"/>
            <a:tailEnd len="sm" w="sm" type="none"/>
          </a:ln>
          <a:effectLst>
            <a:outerShdw blurRad="42863" rotWithShape="0" algn="bl" dir="5400000" dist="28575">
              <a:srgbClr val="4EBA65">
                <a:alpha val="50000"/>
              </a:srgbClr>
            </a:outerShdw>
            <a:reflection blurRad="0" dir="5400000" dist="85725" endA="0" endPos="30000" fadeDir="5400012" kx="0" rotWithShape="0" algn="bl" stA="6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4" name="Google Shape;324;p33"/>
          <p:cNvSpPr/>
          <p:nvPr/>
        </p:nvSpPr>
        <p:spPr>
          <a:xfrm>
            <a:off x="5503738" y="2427188"/>
            <a:ext cx="114300" cy="101700"/>
          </a:xfrm>
          <a:prstGeom prst="ellipse">
            <a:avLst/>
          </a:prstGeom>
          <a:noFill/>
          <a:ln cap="flat" cmpd="sng" w="9525">
            <a:solidFill>
              <a:srgbClr val="8B8B8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5" name="Google Shape;325;p33"/>
          <p:cNvSpPr/>
          <p:nvPr/>
        </p:nvSpPr>
        <p:spPr>
          <a:xfrm>
            <a:off x="7507975" y="2355100"/>
            <a:ext cx="114300" cy="101700"/>
          </a:xfrm>
          <a:prstGeom prst="ellipse">
            <a:avLst/>
          </a:prstGeom>
          <a:noFill/>
          <a:ln cap="flat" cmpd="sng" w="9525">
            <a:solidFill>
              <a:srgbClr val="8B8B8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6" name="Google Shape;326;p33"/>
          <p:cNvSpPr/>
          <p:nvPr/>
        </p:nvSpPr>
        <p:spPr>
          <a:xfrm>
            <a:off x="3513925" y="2331060"/>
            <a:ext cx="114300" cy="101700"/>
          </a:xfrm>
          <a:prstGeom prst="flowChartConnector">
            <a:avLst/>
          </a:prstGeom>
          <a:solidFill>
            <a:srgbClr val="4EBA65"/>
          </a:solidFill>
          <a:ln cap="flat" cmpd="sng" w="9525">
            <a:solidFill>
              <a:srgbClr val="4EBA65"/>
            </a:solidFill>
            <a:prstDash val="solid"/>
            <a:round/>
            <a:headEnd len="sm" w="sm" type="none"/>
            <a:tailEnd len="sm" w="sm" type="none"/>
          </a:ln>
          <a:effectLst>
            <a:outerShdw blurRad="42863" rotWithShape="0" algn="bl" dir="5400000" dist="28575">
              <a:srgbClr val="4EBA65">
                <a:alpha val="50000"/>
              </a:srgbClr>
            </a:outerShdw>
            <a:reflection blurRad="0" dir="5400000" dist="85725" endA="0" endPos="30000" fadeDir="5400012" kx="0" rotWithShape="0" algn="bl" stA="6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27" name="Google Shape;327;p33" title="rpc.png"/>
          <p:cNvPicPr preferRelativeResize="0"/>
          <p:nvPr/>
        </p:nvPicPr>
        <p:blipFill>
          <a:blip r:embed="rId4">
            <a:alphaModFix/>
          </a:blip>
          <a:stretch>
            <a:fillRect/>
          </a:stretch>
        </p:blipFill>
        <p:spPr>
          <a:xfrm>
            <a:off x="1653885" y="1236222"/>
            <a:ext cx="633290" cy="596032"/>
          </a:xfrm>
          <a:prstGeom prst="rect">
            <a:avLst/>
          </a:prstGeom>
          <a:noFill/>
          <a:ln>
            <a:noFill/>
          </a:ln>
        </p:spPr>
      </p:pic>
      <p:pic>
        <p:nvPicPr>
          <p:cNvPr id="328" name="Google Shape;328;p33"/>
          <p:cNvPicPr preferRelativeResize="0"/>
          <p:nvPr/>
        </p:nvPicPr>
        <p:blipFill>
          <a:blip r:embed="rId5">
            <a:alphaModFix/>
          </a:blip>
          <a:stretch>
            <a:fillRect/>
          </a:stretch>
        </p:blipFill>
        <p:spPr>
          <a:xfrm>
            <a:off x="721150" y="1431028"/>
            <a:ext cx="901660" cy="369533"/>
          </a:xfrm>
          <a:prstGeom prst="rect">
            <a:avLst/>
          </a:prstGeom>
          <a:noFill/>
          <a:ln>
            <a:noFill/>
          </a:ln>
        </p:spPr>
      </p:pic>
      <p:pic>
        <p:nvPicPr>
          <p:cNvPr id="329" name="Google Shape;329;p33"/>
          <p:cNvPicPr preferRelativeResize="0"/>
          <p:nvPr/>
        </p:nvPicPr>
        <p:blipFill>
          <a:blip r:embed="rId6">
            <a:alphaModFix/>
          </a:blip>
          <a:stretch>
            <a:fillRect/>
          </a:stretch>
        </p:blipFill>
        <p:spPr>
          <a:xfrm>
            <a:off x="721149" y="3636275"/>
            <a:ext cx="601635" cy="601635"/>
          </a:xfrm>
          <a:prstGeom prst="rect">
            <a:avLst/>
          </a:prstGeom>
          <a:noFill/>
          <a:ln>
            <a:noFill/>
          </a:ln>
        </p:spPr>
      </p:pic>
      <p:pic>
        <p:nvPicPr>
          <p:cNvPr id="330" name="Google Shape;330;p33"/>
          <p:cNvPicPr preferRelativeResize="0"/>
          <p:nvPr/>
        </p:nvPicPr>
        <p:blipFill>
          <a:blip r:embed="rId7">
            <a:alphaModFix/>
          </a:blip>
          <a:stretch>
            <a:fillRect/>
          </a:stretch>
        </p:blipFill>
        <p:spPr>
          <a:xfrm>
            <a:off x="1532867" y="3828564"/>
            <a:ext cx="833832" cy="376569"/>
          </a:xfrm>
          <a:prstGeom prst="rect">
            <a:avLst/>
          </a:prstGeom>
          <a:noFill/>
          <a:ln>
            <a:noFill/>
          </a:ln>
        </p:spPr>
      </p:pic>
      <p:pic>
        <p:nvPicPr>
          <p:cNvPr id="331" name="Google Shape;331;p33" title="Superteam logo.jpeg"/>
          <p:cNvPicPr preferRelativeResize="0"/>
          <p:nvPr/>
        </p:nvPicPr>
        <p:blipFill>
          <a:blip r:embed="rId8">
            <a:alphaModFix/>
          </a:blip>
          <a:stretch>
            <a:fillRect/>
          </a:stretch>
        </p:blipFill>
        <p:spPr>
          <a:xfrm>
            <a:off x="2744569" y="1199329"/>
            <a:ext cx="728663" cy="669822"/>
          </a:xfrm>
          <a:prstGeom prst="rect">
            <a:avLst/>
          </a:prstGeom>
          <a:noFill/>
          <a:ln>
            <a:noFill/>
          </a:ln>
        </p:spPr>
      </p:pic>
      <p:pic>
        <p:nvPicPr>
          <p:cNvPr id="332" name="Google Shape;332;p33"/>
          <p:cNvPicPr preferRelativeResize="0"/>
          <p:nvPr/>
        </p:nvPicPr>
        <p:blipFill>
          <a:blip r:embed="rId9">
            <a:alphaModFix/>
          </a:blip>
          <a:stretch>
            <a:fillRect/>
          </a:stretch>
        </p:blipFill>
        <p:spPr>
          <a:xfrm>
            <a:off x="3665300" y="1213257"/>
            <a:ext cx="728650" cy="666768"/>
          </a:xfrm>
          <a:prstGeom prst="rect">
            <a:avLst/>
          </a:prstGeom>
          <a:noFill/>
          <a:ln>
            <a:noFill/>
          </a:ln>
        </p:spPr>
      </p:pic>
      <p:pic>
        <p:nvPicPr>
          <p:cNvPr id="333" name="Google Shape;333;p33"/>
          <p:cNvPicPr preferRelativeResize="0"/>
          <p:nvPr/>
        </p:nvPicPr>
        <p:blipFill>
          <a:blip r:embed="rId10">
            <a:alphaModFix/>
          </a:blip>
          <a:stretch>
            <a:fillRect/>
          </a:stretch>
        </p:blipFill>
        <p:spPr>
          <a:xfrm>
            <a:off x="3270262" y="3671200"/>
            <a:ext cx="601625" cy="601625"/>
          </a:xfrm>
          <a:prstGeom prst="rect">
            <a:avLst/>
          </a:prstGeom>
          <a:noFill/>
          <a:ln>
            <a:noFill/>
          </a:ln>
        </p:spPr>
      </p:pic>
      <p:pic>
        <p:nvPicPr>
          <p:cNvPr id="334" name="Google Shape;334;p33" title="solana.png"/>
          <p:cNvPicPr preferRelativeResize="0"/>
          <p:nvPr/>
        </p:nvPicPr>
        <p:blipFill>
          <a:blip r:embed="rId11">
            <a:alphaModFix/>
          </a:blip>
          <a:stretch>
            <a:fillRect/>
          </a:stretch>
        </p:blipFill>
        <p:spPr>
          <a:xfrm>
            <a:off x="4862141" y="1197740"/>
            <a:ext cx="1355781" cy="669822"/>
          </a:xfrm>
          <a:prstGeom prst="rect">
            <a:avLst/>
          </a:prstGeom>
          <a:noFill/>
          <a:ln>
            <a:noFill/>
          </a:ln>
        </p:spPr>
      </p:pic>
      <p:pic>
        <p:nvPicPr>
          <p:cNvPr id="335" name="Google Shape;335;p33"/>
          <p:cNvPicPr preferRelativeResize="0"/>
          <p:nvPr/>
        </p:nvPicPr>
        <p:blipFill>
          <a:blip r:embed="rId12">
            <a:alphaModFix/>
          </a:blip>
          <a:stretch>
            <a:fillRect/>
          </a:stretch>
        </p:blipFill>
        <p:spPr>
          <a:xfrm>
            <a:off x="6791408" y="1147900"/>
            <a:ext cx="743862" cy="743862"/>
          </a:xfrm>
          <a:prstGeom prst="rect">
            <a:avLst/>
          </a:prstGeom>
          <a:noFill/>
          <a:ln>
            <a:noFill/>
          </a:ln>
        </p:spPr>
      </p:pic>
      <p:pic>
        <p:nvPicPr>
          <p:cNvPr id="336" name="Google Shape;336;p33"/>
          <p:cNvPicPr preferRelativeResize="0"/>
          <p:nvPr/>
        </p:nvPicPr>
        <p:blipFill>
          <a:blip r:embed="rId13">
            <a:alphaModFix/>
          </a:blip>
          <a:stretch>
            <a:fillRect/>
          </a:stretch>
        </p:blipFill>
        <p:spPr>
          <a:xfrm>
            <a:off x="7703375" y="1144874"/>
            <a:ext cx="901650" cy="721325"/>
          </a:xfrm>
          <a:prstGeom prst="rect">
            <a:avLst/>
          </a:prstGeom>
          <a:noFill/>
          <a:ln>
            <a:noFill/>
          </a:ln>
        </p:spPr>
      </p:pic>
      <p:pic>
        <p:nvPicPr>
          <p:cNvPr descr="Tensor | Solana's Leading NFT Marketplace" id="337" name="Google Shape;337;p33"/>
          <p:cNvPicPr preferRelativeResize="0"/>
          <p:nvPr/>
        </p:nvPicPr>
        <p:blipFill>
          <a:blip r:embed="rId14">
            <a:alphaModFix/>
          </a:blip>
          <a:stretch>
            <a:fillRect/>
          </a:stretch>
        </p:blipFill>
        <p:spPr>
          <a:xfrm>
            <a:off x="4657750" y="3575047"/>
            <a:ext cx="595659" cy="603898"/>
          </a:xfrm>
          <a:prstGeom prst="rect">
            <a:avLst/>
          </a:prstGeom>
          <a:noFill/>
          <a:ln>
            <a:noFill/>
          </a:ln>
        </p:spPr>
      </p:pic>
      <p:pic>
        <p:nvPicPr>
          <p:cNvPr id="338" name="Google Shape;338;p33"/>
          <p:cNvPicPr preferRelativeResize="0"/>
          <p:nvPr/>
        </p:nvPicPr>
        <p:blipFill>
          <a:blip r:embed="rId15">
            <a:alphaModFix/>
          </a:blip>
          <a:stretch>
            <a:fillRect/>
          </a:stretch>
        </p:blipFill>
        <p:spPr>
          <a:xfrm>
            <a:off x="5292253" y="3719753"/>
            <a:ext cx="1171797" cy="314508"/>
          </a:xfrm>
          <a:prstGeom prst="rect">
            <a:avLst/>
          </a:prstGeom>
          <a:noFill/>
          <a:ln>
            <a:noFill/>
          </a:ln>
        </p:spPr>
      </p:pic>
      <p:pic>
        <p:nvPicPr>
          <p:cNvPr descr="The Solana Foundation Branding" id="339" name="Google Shape;339;p33"/>
          <p:cNvPicPr preferRelativeResize="0"/>
          <p:nvPr/>
        </p:nvPicPr>
        <p:blipFill>
          <a:blip r:embed="rId16">
            <a:alphaModFix/>
          </a:blip>
          <a:stretch>
            <a:fillRect/>
          </a:stretch>
        </p:blipFill>
        <p:spPr>
          <a:xfrm>
            <a:off x="6719677" y="3729730"/>
            <a:ext cx="1806301" cy="308389"/>
          </a:xfrm>
          <a:prstGeom prst="rect">
            <a:avLst/>
          </a:prstGeom>
          <a:noFill/>
          <a:ln>
            <a:noFill/>
          </a:ln>
        </p:spPr>
      </p:pic>
      <p:cxnSp>
        <p:nvCxnSpPr>
          <p:cNvPr id="340" name="Google Shape;340;p33"/>
          <p:cNvCxnSpPr/>
          <p:nvPr/>
        </p:nvCxnSpPr>
        <p:spPr>
          <a:xfrm>
            <a:off x="2526963" y="1189238"/>
            <a:ext cx="3900" cy="690000"/>
          </a:xfrm>
          <a:prstGeom prst="straightConnector1">
            <a:avLst/>
          </a:prstGeom>
          <a:noFill/>
          <a:ln cap="flat" cmpd="sng" w="19050">
            <a:solidFill>
              <a:srgbClr val="4EBA65"/>
            </a:solidFill>
            <a:prstDash val="solid"/>
            <a:round/>
            <a:headEnd len="med" w="med" type="none"/>
            <a:tailEnd len="med" w="med" type="none"/>
          </a:ln>
          <a:effectLst>
            <a:outerShdw blurRad="85725" rotWithShape="0" algn="bl" dir="5400000" dist="28575">
              <a:srgbClr val="4EBA65">
                <a:alpha val="50000"/>
              </a:srgbClr>
            </a:outerShdw>
          </a:effectLst>
        </p:spPr>
      </p:cxnSp>
      <p:cxnSp>
        <p:nvCxnSpPr>
          <p:cNvPr id="341" name="Google Shape;341;p33"/>
          <p:cNvCxnSpPr/>
          <p:nvPr/>
        </p:nvCxnSpPr>
        <p:spPr>
          <a:xfrm>
            <a:off x="4595428" y="1233388"/>
            <a:ext cx="3900" cy="690000"/>
          </a:xfrm>
          <a:prstGeom prst="straightConnector1">
            <a:avLst/>
          </a:prstGeom>
          <a:noFill/>
          <a:ln cap="flat" cmpd="sng" w="9525">
            <a:solidFill>
              <a:srgbClr val="F5F5F5"/>
            </a:solidFill>
            <a:prstDash val="solid"/>
            <a:round/>
            <a:headEnd len="med" w="med" type="none"/>
            <a:tailEnd len="med" w="med" type="none"/>
          </a:ln>
        </p:spPr>
      </p:cxnSp>
      <p:cxnSp>
        <p:nvCxnSpPr>
          <p:cNvPr id="342" name="Google Shape;342;p33"/>
          <p:cNvCxnSpPr/>
          <p:nvPr/>
        </p:nvCxnSpPr>
        <p:spPr>
          <a:xfrm>
            <a:off x="6510038" y="1174813"/>
            <a:ext cx="3900" cy="690000"/>
          </a:xfrm>
          <a:prstGeom prst="straightConnector1">
            <a:avLst/>
          </a:prstGeom>
          <a:noFill/>
          <a:ln cap="flat" cmpd="sng" w="9525">
            <a:solidFill>
              <a:srgbClr val="F5F5F5"/>
            </a:solidFill>
            <a:prstDash val="solid"/>
            <a:round/>
            <a:headEnd len="med" w="med" type="none"/>
            <a:tailEnd len="med" w="med" type="none"/>
          </a:ln>
        </p:spPr>
      </p:cxnSp>
      <p:cxnSp>
        <p:nvCxnSpPr>
          <p:cNvPr id="343" name="Google Shape;343;p33"/>
          <p:cNvCxnSpPr/>
          <p:nvPr/>
        </p:nvCxnSpPr>
        <p:spPr>
          <a:xfrm>
            <a:off x="2562138" y="3577409"/>
            <a:ext cx="3900" cy="690000"/>
          </a:xfrm>
          <a:prstGeom prst="straightConnector1">
            <a:avLst/>
          </a:prstGeom>
          <a:noFill/>
          <a:ln cap="flat" cmpd="sng" w="19050">
            <a:solidFill>
              <a:srgbClr val="4EBA65"/>
            </a:solidFill>
            <a:prstDash val="solid"/>
            <a:round/>
            <a:headEnd len="med" w="med" type="none"/>
            <a:tailEnd len="med" w="med" type="none"/>
          </a:ln>
          <a:effectLst>
            <a:outerShdw blurRad="85725" rotWithShape="0" algn="bl" dir="5400000" dist="28575">
              <a:srgbClr val="4EBA65">
                <a:alpha val="50000"/>
              </a:srgbClr>
            </a:outerShdw>
          </a:effectLst>
        </p:spPr>
      </p:cxnSp>
      <p:cxnSp>
        <p:nvCxnSpPr>
          <p:cNvPr id="344" name="Google Shape;344;p33"/>
          <p:cNvCxnSpPr/>
          <p:nvPr/>
        </p:nvCxnSpPr>
        <p:spPr>
          <a:xfrm>
            <a:off x="4550809" y="3577421"/>
            <a:ext cx="3900" cy="690000"/>
          </a:xfrm>
          <a:prstGeom prst="straightConnector1">
            <a:avLst/>
          </a:prstGeom>
          <a:noFill/>
          <a:ln cap="flat" cmpd="sng" w="9525">
            <a:solidFill>
              <a:srgbClr val="F5F5F5"/>
            </a:solidFill>
            <a:prstDash val="solid"/>
            <a:round/>
            <a:headEnd len="med" w="med" type="none"/>
            <a:tailEnd len="med" w="med" type="none"/>
          </a:ln>
        </p:spPr>
      </p:cxnSp>
      <p:cxnSp>
        <p:nvCxnSpPr>
          <p:cNvPr id="345" name="Google Shape;345;p33"/>
          <p:cNvCxnSpPr/>
          <p:nvPr/>
        </p:nvCxnSpPr>
        <p:spPr>
          <a:xfrm>
            <a:off x="6538630" y="3577409"/>
            <a:ext cx="3900" cy="690000"/>
          </a:xfrm>
          <a:prstGeom prst="straightConnector1">
            <a:avLst/>
          </a:prstGeom>
          <a:noFill/>
          <a:ln cap="flat" cmpd="sng" w="9525">
            <a:solidFill>
              <a:srgbClr val="F5F5F5"/>
            </a:solidFill>
            <a:prstDash val="solid"/>
            <a:round/>
            <a:headEnd len="med" w="med" type="none"/>
            <a:tailEnd len="med" w="med" type="none"/>
          </a:ln>
        </p:spPr>
      </p:cxnSp>
    </p:spTree>
  </p:cSld>
  <p:clrMapOvr>
    <a:masterClrMapping/>
  </p:clrMapOvr>
  <mc:AlternateContent>
    <mc:Choice Requires="p14">
      <p:transition p14:dur="2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9" name="Shape 349"/>
        <p:cNvGrpSpPr/>
        <p:nvPr/>
      </p:nvGrpSpPr>
      <p:grpSpPr>
        <a:xfrm>
          <a:off x="0" y="0"/>
          <a:ext cx="0" cy="0"/>
          <a:chOff x="0" y="0"/>
          <a:chExt cx="0" cy="0"/>
        </a:xfrm>
      </p:grpSpPr>
      <p:pic>
        <p:nvPicPr>
          <p:cNvPr id="350" name="Google Shape;350;p34" title="Screenshot 2026-05-09 at 9.10.30 PM.png"/>
          <p:cNvPicPr preferRelativeResize="0"/>
          <p:nvPr/>
        </p:nvPicPr>
        <p:blipFill rotWithShape="1">
          <a:blip r:embed="rId4">
            <a:alphaModFix amt="28000"/>
          </a:blip>
          <a:srcRect b="2544" l="0" r="0" t="0"/>
          <a:stretch/>
        </p:blipFill>
        <p:spPr>
          <a:xfrm>
            <a:off x="-6275" y="219900"/>
            <a:ext cx="9144003" cy="4703701"/>
          </a:xfrm>
          <a:prstGeom prst="rect">
            <a:avLst/>
          </a:prstGeom>
          <a:noFill/>
          <a:ln>
            <a:noFill/>
          </a:ln>
        </p:spPr>
      </p:pic>
      <p:pic>
        <p:nvPicPr>
          <p:cNvPr descr="image.png" id="351" name="Google Shape;351;p34"/>
          <p:cNvPicPr preferRelativeResize="0"/>
          <p:nvPr/>
        </p:nvPicPr>
        <p:blipFill>
          <a:blip r:embed="rId5">
            <a:alphaModFix/>
          </a:blip>
          <a:stretch>
            <a:fillRect/>
          </a:stretch>
        </p:blipFill>
        <p:spPr>
          <a:xfrm>
            <a:off x="3816863" y="3370275"/>
            <a:ext cx="238125" cy="266700"/>
          </a:xfrm>
          <a:prstGeom prst="rect">
            <a:avLst/>
          </a:prstGeom>
          <a:noFill/>
          <a:ln>
            <a:noFill/>
          </a:ln>
        </p:spPr>
      </p:pic>
      <p:pic>
        <p:nvPicPr>
          <p:cNvPr descr="image.png" id="352" name="Google Shape;352;p34"/>
          <p:cNvPicPr preferRelativeResize="0"/>
          <p:nvPr/>
        </p:nvPicPr>
        <p:blipFill>
          <a:blip r:embed="rId6">
            <a:alphaModFix/>
          </a:blip>
          <a:stretch>
            <a:fillRect/>
          </a:stretch>
        </p:blipFill>
        <p:spPr>
          <a:xfrm>
            <a:off x="3189800" y="2930625"/>
            <a:ext cx="2082300" cy="1583050"/>
          </a:xfrm>
          <a:prstGeom prst="rect">
            <a:avLst/>
          </a:prstGeom>
          <a:noFill/>
          <a:ln>
            <a:noFill/>
          </a:ln>
        </p:spPr>
      </p:pic>
      <p:pic>
        <p:nvPicPr>
          <p:cNvPr descr="image.png" id="353" name="Google Shape;353;p34"/>
          <p:cNvPicPr preferRelativeResize="0"/>
          <p:nvPr/>
        </p:nvPicPr>
        <p:blipFill>
          <a:blip r:embed="rId7">
            <a:alphaModFix/>
          </a:blip>
          <a:stretch>
            <a:fillRect/>
          </a:stretch>
        </p:blipFill>
        <p:spPr>
          <a:xfrm>
            <a:off x="306110" y="2930625"/>
            <a:ext cx="2463293" cy="1483654"/>
          </a:xfrm>
          <a:prstGeom prst="rect">
            <a:avLst/>
          </a:prstGeom>
          <a:noFill/>
          <a:ln>
            <a:noFill/>
          </a:ln>
        </p:spPr>
      </p:pic>
      <p:pic>
        <p:nvPicPr>
          <p:cNvPr descr="image.png" id="354" name="Google Shape;354;p34"/>
          <p:cNvPicPr preferRelativeResize="0"/>
          <p:nvPr/>
        </p:nvPicPr>
        <p:blipFill>
          <a:blip r:embed="rId7">
            <a:alphaModFix/>
          </a:blip>
          <a:stretch>
            <a:fillRect/>
          </a:stretch>
        </p:blipFill>
        <p:spPr>
          <a:xfrm>
            <a:off x="6014785" y="2930625"/>
            <a:ext cx="2463293" cy="1483654"/>
          </a:xfrm>
          <a:prstGeom prst="rect">
            <a:avLst/>
          </a:prstGeom>
          <a:noFill/>
          <a:ln>
            <a:noFill/>
          </a:ln>
        </p:spPr>
      </p:pic>
      <p:sp>
        <p:nvSpPr>
          <p:cNvPr id="355" name="Google Shape;355;p34"/>
          <p:cNvSpPr txBox="1"/>
          <p:nvPr/>
        </p:nvSpPr>
        <p:spPr>
          <a:xfrm>
            <a:off x="3307125" y="3033888"/>
            <a:ext cx="1257600" cy="361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1150">
                <a:solidFill>
                  <a:srgbClr val="94A3B8"/>
                </a:solidFill>
                <a:latin typeface="JetBrains Mono"/>
                <a:ea typeface="JetBrains Mono"/>
                <a:cs typeface="JetBrains Mono"/>
                <a:sym typeface="JetBrains Mono"/>
              </a:rPr>
              <a:t>WE ARE LIVE </a:t>
            </a:r>
            <a:endParaRPr b="1" sz="1200">
              <a:solidFill>
                <a:schemeClr val="dk1"/>
              </a:solidFill>
            </a:endParaRPr>
          </a:p>
        </p:txBody>
      </p:sp>
      <p:sp>
        <p:nvSpPr>
          <p:cNvPr id="356" name="Google Shape;356;p34"/>
          <p:cNvSpPr txBox="1"/>
          <p:nvPr/>
        </p:nvSpPr>
        <p:spPr>
          <a:xfrm>
            <a:off x="471525" y="2990100"/>
            <a:ext cx="1881600" cy="361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1150">
                <a:solidFill>
                  <a:srgbClr val="94A3B8"/>
                </a:solidFill>
                <a:latin typeface="JetBrains Mono"/>
                <a:ea typeface="JetBrains Mono"/>
                <a:cs typeface="JetBrains Mono"/>
                <a:sym typeface="JetBrains Mono"/>
              </a:rPr>
              <a:t>FOLLOW US</a:t>
            </a:r>
            <a:endParaRPr b="1" sz="1200">
              <a:solidFill>
                <a:schemeClr val="dk1"/>
              </a:solidFill>
            </a:endParaRPr>
          </a:p>
        </p:txBody>
      </p:sp>
      <p:pic>
        <p:nvPicPr>
          <p:cNvPr id="357" name="Google Shape;357;p34" title="IMG_9196.PNG"/>
          <p:cNvPicPr preferRelativeResize="0"/>
          <p:nvPr/>
        </p:nvPicPr>
        <p:blipFill>
          <a:blip r:embed="rId8">
            <a:alphaModFix/>
          </a:blip>
          <a:stretch>
            <a:fillRect/>
          </a:stretch>
        </p:blipFill>
        <p:spPr>
          <a:xfrm>
            <a:off x="1739201" y="592873"/>
            <a:ext cx="5665603" cy="1405350"/>
          </a:xfrm>
          <a:prstGeom prst="rect">
            <a:avLst/>
          </a:prstGeom>
          <a:noFill/>
          <a:ln>
            <a:noFill/>
          </a:ln>
        </p:spPr>
      </p:pic>
      <p:sp>
        <p:nvSpPr>
          <p:cNvPr id="358" name="Google Shape;358;p34"/>
          <p:cNvSpPr txBox="1"/>
          <p:nvPr/>
        </p:nvSpPr>
        <p:spPr>
          <a:xfrm>
            <a:off x="6196350" y="3033900"/>
            <a:ext cx="1932600" cy="361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1150">
                <a:solidFill>
                  <a:srgbClr val="94A3B8"/>
                </a:solidFill>
                <a:latin typeface="JetBrains Mono"/>
                <a:ea typeface="JetBrains Mono"/>
                <a:cs typeface="JetBrains Mono"/>
                <a:sym typeface="JetBrains Mono"/>
              </a:rPr>
              <a:t>FOUNDING TEAM</a:t>
            </a:r>
            <a:endParaRPr b="1" sz="1200">
              <a:solidFill>
                <a:schemeClr val="dk1"/>
              </a:solidFill>
            </a:endParaRPr>
          </a:p>
        </p:txBody>
      </p:sp>
      <p:sp>
        <p:nvSpPr>
          <p:cNvPr id="359" name="Google Shape;359;p34"/>
          <p:cNvSpPr txBox="1"/>
          <p:nvPr/>
        </p:nvSpPr>
        <p:spPr>
          <a:xfrm>
            <a:off x="6191175" y="3318975"/>
            <a:ext cx="1881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FFFFFF"/>
                </a:solidFill>
              </a:rPr>
              <a:t>BALAJI </a:t>
            </a:r>
            <a:r>
              <a:rPr lang="en-GB" sz="1200">
                <a:solidFill>
                  <a:srgbClr val="64748B"/>
                </a:solidFill>
              </a:rPr>
              <a:t>FOUNDER</a:t>
            </a:r>
            <a:endParaRPr sz="1200">
              <a:solidFill>
                <a:schemeClr val="dk1"/>
              </a:solidFill>
            </a:endParaRPr>
          </a:p>
        </p:txBody>
      </p:sp>
      <p:sp>
        <p:nvSpPr>
          <p:cNvPr id="360" name="Google Shape;360;p34"/>
          <p:cNvSpPr txBox="1"/>
          <p:nvPr/>
        </p:nvSpPr>
        <p:spPr>
          <a:xfrm>
            <a:off x="6191171" y="3636964"/>
            <a:ext cx="23088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FFFFFF"/>
                </a:solidFill>
              </a:rPr>
              <a:t>SHREYAS </a:t>
            </a:r>
            <a:r>
              <a:rPr lang="en-GB" sz="1200">
                <a:solidFill>
                  <a:srgbClr val="64748B"/>
                </a:solidFill>
              </a:rPr>
              <a:t>CO-FOUNDER</a:t>
            </a:r>
            <a:endParaRPr sz="1200">
              <a:solidFill>
                <a:schemeClr val="dk1"/>
              </a:solidFill>
            </a:endParaRPr>
          </a:p>
        </p:txBody>
      </p:sp>
      <p:sp>
        <p:nvSpPr>
          <p:cNvPr id="361" name="Google Shape;361;p34"/>
          <p:cNvSpPr txBox="1"/>
          <p:nvPr/>
        </p:nvSpPr>
        <p:spPr>
          <a:xfrm>
            <a:off x="6213185" y="3930631"/>
            <a:ext cx="1932600" cy="369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GB" sz="1200">
                <a:solidFill>
                  <a:srgbClr val="FFFFFF"/>
                </a:solidFill>
              </a:rPr>
              <a:t>TEJAS  </a:t>
            </a:r>
            <a:r>
              <a:rPr lang="en-GB" sz="1200">
                <a:solidFill>
                  <a:srgbClr val="64748B"/>
                </a:solidFill>
              </a:rPr>
              <a:t>CTO</a:t>
            </a:r>
            <a:endParaRPr sz="1200">
              <a:solidFill>
                <a:schemeClr val="dk1"/>
              </a:solidFill>
            </a:endParaRPr>
          </a:p>
        </p:txBody>
      </p:sp>
      <p:pic>
        <p:nvPicPr>
          <p:cNvPr id="362" name="Google Shape;362;p34" title="SOLONA.png"/>
          <p:cNvPicPr preferRelativeResize="0"/>
          <p:nvPr/>
        </p:nvPicPr>
        <p:blipFill>
          <a:blip r:embed="rId9">
            <a:alphaModFix/>
          </a:blip>
          <a:stretch>
            <a:fillRect/>
          </a:stretch>
        </p:blipFill>
        <p:spPr>
          <a:xfrm>
            <a:off x="3749363" y="3380362"/>
            <a:ext cx="882525" cy="882525"/>
          </a:xfrm>
          <a:prstGeom prst="rect">
            <a:avLst/>
          </a:prstGeom>
          <a:noFill/>
          <a:ln>
            <a:noFill/>
          </a:ln>
        </p:spPr>
      </p:pic>
      <p:sp>
        <p:nvSpPr>
          <p:cNvPr id="363" name="Google Shape;363;p34"/>
          <p:cNvSpPr txBox="1"/>
          <p:nvPr/>
        </p:nvSpPr>
        <p:spPr>
          <a:xfrm>
            <a:off x="3383750" y="4248000"/>
            <a:ext cx="1694400" cy="3387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GB" sz="1000">
                <a:solidFill>
                  <a:srgbClr val="FFFFFF"/>
                </a:solidFill>
              </a:rPr>
              <a:t>www.</a:t>
            </a:r>
            <a:r>
              <a:rPr b="1" lang="en-GB" sz="1000">
                <a:solidFill>
                  <a:srgbClr val="FFFFFF"/>
                </a:solidFill>
              </a:rPr>
              <a:t>sak-d89.pages.dev</a:t>
            </a:r>
            <a:endParaRPr sz="1100">
              <a:solidFill>
                <a:schemeClr val="dk1"/>
              </a:solidFill>
            </a:endParaRPr>
          </a:p>
        </p:txBody>
      </p:sp>
      <p:sp>
        <p:nvSpPr>
          <p:cNvPr id="364" name="Google Shape;364;p34"/>
          <p:cNvSpPr/>
          <p:nvPr/>
        </p:nvSpPr>
        <p:spPr>
          <a:xfrm>
            <a:off x="2892775" y="2046100"/>
            <a:ext cx="3345900" cy="5157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600">
                <a:solidFill>
                  <a:srgbClr val="4EBA65"/>
                </a:solidFill>
                <a:latin typeface="Calibri"/>
                <a:ea typeface="Calibri"/>
                <a:cs typeface="Calibri"/>
                <a:sym typeface="Calibri"/>
              </a:rPr>
              <a:t>JOIN THE WAITLIST</a:t>
            </a:r>
            <a:endParaRPr b="1" sz="2600">
              <a:solidFill>
                <a:srgbClr val="4EBA65"/>
              </a:solidFill>
              <a:latin typeface="Calibri"/>
              <a:ea typeface="Calibri"/>
              <a:cs typeface="Calibri"/>
              <a:sym typeface="Calibri"/>
            </a:endParaRPr>
          </a:p>
        </p:txBody>
      </p:sp>
      <p:pic>
        <p:nvPicPr>
          <p:cNvPr id="365" name="Google Shape;365;p34"/>
          <p:cNvPicPr preferRelativeResize="0"/>
          <p:nvPr/>
        </p:nvPicPr>
        <p:blipFill>
          <a:blip r:embed="rId10">
            <a:alphaModFix/>
          </a:blip>
          <a:stretch>
            <a:fillRect/>
          </a:stretch>
        </p:blipFill>
        <p:spPr>
          <a:xfrm>
            <a:off x="1245249" y="3656755"/>
            <a:ext cx="585000" cy="591245"/>
          </a:xfrm>
          <a:prstGeom prst="rect">
            <a:avLst/>
          </a:prstGeom>
          <a:noFill/>
          <a:ln>
            <a:noFill/>
          </a:ln>
        </p:spPr>
      </p:pic>
      <p:sp>
        <p:nvSpPr>
          <p:cNvPr id="366" name="Google Shape;366;p34"/>
          <p:cNvSpPr txBox="1"/>
          <p:nvPr/>
        </p:nvSpPr>
        <p:spPr>
          <a:xfrm>
            <a:off x="709000" y="3411913"/>
            <a:ext cx="1657500" cy="169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100"/>
              <a:buFont typeface="Arial"/>
              <a:buNone/>
            </a:pPr>
            <a:r>
              <a:rPr lang="en-GB" sz="1100">
                <a:solidFill>
                  <a:srgbClr val="F5F5F5"/>
                </a:solidFill>
                <a:latin typeface="JetBrains Mono"/>
                <a:ea typeface="JetBrains Mono"/>
                <a:cs typeface="JetBrains Mono"/>
                <a:sym typeface="JetBrains Mono"/>
              </a:rPr>
              <a:t>@techies_hub_frU</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35"/>
          <p:cNvPicPr preferRelativeResize="0"/>
          <p:nvPr/>
        </p:nvPicPr>
        <p:blipFill rotWithShape="1">
          <a:blip r:embed="rId3">
            <a:alphaModFix/>
          </a:blip>
          <a:srcRect b="0" l="0" r="0" t="0"/>
          <a:stretch/>
        </p:blipFill>
        <p:spPr>
          <a:xfrm>
            <a:off x="359050" y="4661625"/>
            <a:ext cx="1650929" cy="409500"/>
          </a:xfrm>
          <a:prstGeom prst="rect">
            <a:avLst/>
          </a:prstGeom>
          <a:noFill/>
          <a:ln>
            <a:noFill/>
          </a:ln>
        </p:spPr>
      </p:pic>
      <p:pic>
        <p:nvPicPr>
          <p:cNvPr id="372" name="Google Shape;372;p35" title="SAK_solana Agent kernel">
            <a:hlinkClick r:id="rId4"/>
          </p:cNvPr>
          <p:cNvPicPr preferRelativeResize="0"/>
          <p:nvPr/>
        </p:nvPicPr>
        <p:blipFill>
          <a:blip r:embed="rId5">
            <a:alphaModFix/>
          </a:blip>
          <a:stretch>
            <a:fillRect/>
          </a:stretch>
        </p:blipFill>
        <p:spPr>
          <a:xfrm>
            <a:off x="0" y="-43450"/>
            <a:ext cx="9221250" cy="5186950"/>
          </a:xfrm>
          <a:prstGeom prst="rect">
            <a:avLst/>
          </a:prstGeom>
          <a:noFill/>
          <a:ln>
            <a:noFill/>
          </a:ln>
          <a:effectLst>
            <a:outerShdw blurRad="57150" rotWithShape="0" algn="bl" dir="5400000" dist="19050">
              <a:srgbClr val="000000">
                <a:alpha val="41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pic>
        <p:nvPicPr>
          <p:cNvPr descr="image.png" id="377" name="Google Shape;377;p3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378" name="Google Shape;378;p36"/>
          <p:cNvPicPr preferRelativeResize="0"/>
          <p:nvPr/>
        </p:nvPicPr>
        <p:blipFill rotWithShape="1">
          <a:blip r:embed="rId4">
            <a:alphaModFix/>
          </a:blip>
          <a:srcRect b="0" l="0" r="0" t="0"/>
          <a:stretch/>
        </p:blipFill>
        <p:spPr>
          <a:xfrm>
            <a:off x="359050" y="4661625"/>
            <a:ext cx="1650929" cy="409500"/>
          </a:xfrm>
          <a:prstGeom prst="rect">
            <a:avLst/>
          </a:prstGeom>
          <a:noFill/>
          <a:ln>
            <a:noFill/>
          </a:ln>
        </p:spPr>
      </p:pic>
      <p:pic>
        <p:nvPicPr>
          <p:cNvPr id="379" name="Google Shape;379;p36" title="DEV3SAK.mp4">
            <a:hlinkClick r:id="rId5"/>
          </p:cNvPr>
          <p:cNvPicPr preferRelativeResize="0"/>
          <p:nvPr/>
        </p:nvPicPr>
        <p:blipFill>
          <a:blip r:embed="rId6">
            <a:alphaModFix/>
          </a:blip>
          <a:stretch>
            <a:fillRect/>
          </a:stretch>
        </p:blipFill>
        <p:spPr>
          <a:xfrm>
            <a:off x="0" y="0"/>
            <a:ext cx="9144000" cy="5143499"/>
          </a:xfrm>
          <a:prstGeom prst="rect">
            <a:avLst/>
          </a:prstGeom>
          <a:noFill/>
          <a:ln>
            <a:noFill/>
          </a:ln>
        </p:spPr>
      </p:pic>
      <p:pic>
        <p:nvPicPr>
          <p:cNvPr id="380" name="Google Shape;380;p36"/>
          <p:cNvPicPr preferRelativeResize="0"/>
          <p:nvPr/>
        </p:nvPicPr>
        <p:blipFill rotWithShape="1">
          <a:blip r:embed="rId4">
            <a:alphaModFix/>
          </a:blip>
          <a:srcRect b="0" l="0" r="0" t="0"/>
          <a:stretch/>
        </p:blipFill>
        <p:spPr>
          <a:xfrm>
            <a:off x="372842" y="4651875"/>
            <a:ext cx="1650929" cy="409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384" name="Shape 384"/>
        <p:cNvGrpSpPr/>
        <p:nvPr/>
      </p:nvGrpSpPr>
      <p:grpSpPr>
        <a:xfrm>
          <a:off x="0" y="0"/>
          <a:ext cx="0" cy="0"/>
          <a:chOff x="0" y="0"/>
          <a:chExt cx="0" cy="0"/>
        </a:xfrm>
      </p:grpSpPr>
      <p:graphicFrame>
        <p:nvGraphicFramePr>
          <p:cNvPr id="385" name="Google Shape;385;p37"/>
          <p:cNvGraphicFramePr/>
          <p:nvPr/>
        </p:nvGraphicFramePr>
        <p:xfrm>
          <a:off x="435769" y="1639490"/>
          <a:ext cx="3000000" cy="3000000"/>
        </p:xfrm>
        <a:graphic>
          <a:graphicData uri="http://schemas.openxmlformats.org/drawingml/2006/table">
            <a:tbl>
              <a:tblPr bandRow="1" firstRow="1">
                <a:noFill/>
                <a:tableStyleId>{63AD211E-4BF6-42B3-A8E3-2E2BD1B7D422}</a:tableStyleId>
              </a:tblPr>
              <a:tblGrid>
                <a:gridCol w="2518950"/>
                <a:gridCol w="1519150"/>
                <a:gridCol w="1803450"/>
                <a:gridCol w="2430875"/>
              </a:tblGrid>
              <a:tr h="445275">
                <a:tc>
                  <a:txBody>
                    <a:bodyPr/>
                    <a:lstStyle/>
                    <a:p>
                      <a:pPr indent="0" lvl="0" marL="0" marR="0" rtl="0" algn="ctr">
                        <a:lnSpc>
                          <a:spcPct val="100000"/>
                        </a:lnSpc>
                        <a:spcBef>
                          <a:spcPts val="0"/>
                        </a:spcBef>
                        <a:spcAft>
                          <a:spcPts val="0"/>
                        </a:spcAft>
                        <a:buClr>
                          <a:srgbClr val="000000"/>
                        </a:buClr>
                        <a:buSzPts val="1000"/>
                        <a:buFont typeface="Arial"/>
                        <a:buNone/>
                      </a:pPr>
                      <a:r>
                        <a:rPr b="1" i="0" lang="en-GB" sz="1600" u="none" cap="none" strike="noStrike">
                          <a:solidFill>
                            <a:srgbClr val="4EBA65"/>
                          </a:solidFill>
                          <a:latin typeface="JetBrains Mono"/>
                          <a:ea typeface="JetBrains Mono"/>
                          <a:cs typeface="JetBrains Mono"/>
                          <a:sym typeface="JetBrains Mono"/>
                        </a:rPr>
                        <a:t>FEATURE</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GB" sz="1600" u="none" cap="none" strike="noStrike">
                          <a:solidFill>
                            <a:srgbClr val="4EBA65"/>
                          </a:solidFill>
                          <a:latin typeface="JetBrains Mono"/>
                          <a:ea typeface="JetBrains Mono"/>
                          <a:cs typeface="JetBrains Mono"/>
                          <a:sym typeface="JetBrains Mono"/>
                        </a:rPr>
                        <a:t>PHANTOM</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GB" sz="1600" u="none" cap="none" strike="noStrike">
                          <a:solidFill>
                            <a:srgbClr val="4EBA65"/>
                          </a:solidFill>
                          <a:latin typeface="JetBrains Mono"/>
                          <a:ea typeface="JetBrains Mono"/>
                          <a:cs typeface="JetBrains Mono"/>
                          <a:sym typeface="JetBrains Mono"/>
                        </a:rPr>
                        <a:t>HYPERNATIVE</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GB" sz="1600" u="none" cap="none" strike="noStrike">
                          <a:solidFill>
                            <a:srgbClr val="4EBA65"/>
                          </a:solidFill>
                          <a:latin typeface="JetBrains Mono"/>
                          <a:ea typeface="JetBrains Mono"/>
                          <a:cs typeface="JetBrains Mono"/>
                          <a:sym typeface="JetBrains Mono"/>
                        </a:rPr>
                        <a:t>SAK </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45275">
                <a:tc>
                  <a:txBody>
                    <a:bodyPr/>
                    <a:lstStyle/>
                    <a:p>
                      <a:pPr indent="0" lvl="0" marL="0" marR="0" rtl="0" algn="ctr">
                        <a:lnSpc>
                          <a:spcPct val="100000"/>
                        </a:lnSpc>
                        <a:spcBef>
                          <a:spcPts val="0"/>
                        </a:spcBef>
                        <a:spcAft>
                          <a:spcPts val="0"/>
                        </a:spcAft>
                        <a:buClr>
                          <a:srgbClr val="000000"/>
                        </a:buClr>
                        <a:buSzPts val="1000"/>
                        <a:buFont typeface="Arial"/>
                        <a:buNone/>
                      </a:pPr>
                      <a:r>
                        <a:rPr b="0" i="0" lang="en-GB" sz="1600" u="none" cap="none" strike="noStrike">
                          <a:solidFill>
                            <a:srgbClr val="F5F5F5"/>
                          </a:solidFill>
                          <a:latin typeface="Inter"/>
                          <a:ea typeface="Inter"/>
                          <a:cs typeface="Inter"/>
                          <a:sym typeface="Inter"/>
                        </a:rPr>
                        <a:t>Pre-Sign Simulation</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(Human)</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(Wallet API)</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(Autonomous SDK)</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45275">
                <a:tc>
                  <a:txBody>
                    <a:bodyPr/>
                    <a:lstStyle/>
                    <a:p>
                      <a:pPr indent="0" lvl="0" marL="0" marR="0" rtl="0" algn="ctr">
                        <a:lnSpc>
                          <a:spcPct val="100000"/>
                        </a:lnSpc>
                        <a:spcBef>
                          <a:spcPts val="0"/>
                        </a:spcBef>
                        <a:spcAft>
                          <a:spcPts val="0"/>
                        </a:spcAft>
                        <a:buClr>
                          <a:srgbClr val="000000"/>
                        </a:buClr>
                        <a:buSzPts val="1000"/>
                        <a:buFont typeface="Arial"/>
                        <a:buNone/>
                      </a:pPr>
                      <a:r>
                        <a:rPr b="0" i="0" lang="en-GB" sz="1600" u="none" cap="none" strike="noStrike">
                          <a:solidFill>
                            <a:srgbClr val="F5F5F5"/>
                          </a:solidFill>
                          <a:latin typeface="Inter"/>
                          <a:ea typeface="Inter"/>
                          <a:cs typeface="Inter"/>
                          <a:sym typeface="Inter"/>
                        </a:rPr>
                        <a:t>Autonomous Rule Engine</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(Deterministic)</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45275">
                <a:tc>
                  <a:txBody>
                    <a:bodyPr/>
                    <a:lstStyle/>
                    <a:p>
                      <a:pPr indent="0" lvl="0" marL="0" marR="0" rtl="0" algn="ctr">
                        <a:lnSpc>
                          <a:spcPct val="100000"/>
                        </a:lnSpc>
                        <a:spcBef>
                          <a:spcPts val="0"/>
                        </a:spcBef>
                        <a:spcAft>
                          <a:spcPts val="0"/>
                        </a:spcAft>
                        <a:buClr>
                          <a:srgbClr val="000000"/>
                        </a:buClr>
                        <a:buSzPts val="1000"/>
                        <a:buFont typeface="Arial"/>
                        <a:buNone/>
                      </a:pPr>
                      <a:r>
                        <a:rPr b="0" i="0" lang="en-GB" sz="1600" u="none" cap="none" strike="noStrike">
                          <a:solidFill>
                            <a:srgbClr val="F5F5F5"/>
                          </a:solidFill>
                          <a:latin typeface="Inter"/>
                          <a:ea typeface="Inter"/>
                          <a:cs typeface="Inter"/>
                          <a:sym typeface="Inter"/>
                        </a:rPr>
                        <a:t>Same-Slot Awareness</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(Geyser Push)</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45275">
                <a:tc>
                  <a:txBody>
                    <a:bodyPr/>
                    <a:lstStyle/>
                    <a:p>
                      <a:pPr indent="0" lvl="0" marL="0" marR="0" rtl="0" algn="ctr">
                        <a:lnSpc>
                          <a:spcPct val="100000"/>
                        </a:lnSpc>
                        <a:spcBef>
                          <a:spcPts val="0"/>
                        </a:spcBef>
                        <a:spcAft>
                          <a:spcPts val="0"/>
                        </a:spcAft>
                        <a:buClr>
                          <a:srgbClr val="000000"/>
                        </a:buClr>
                        <a:buSzPts val="1000"/>
                        <a:buFont typeface="Arial"/>
                        <a:buNone/>
                      </a:pPr>
                      <a:r>
                        <a:rPr b="0" i="0" lang="en-GB" sz="1600" u="none" cap="none" strike="noStrike">
                          <a:solidFill>
                            <a:srgbClr val="F5F5F5"/>
                          </a:solidFill>
                          <a:latin typeface="Inter"/>
                          <a:ea typeface="Inter"/>
                          <a:cs typeface="Inter"/>
                          <a:sym typeface="Inter"/>
                        </a:rPr>
                        <a:t>ZK Compressed State</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300">
                          <a:solidFill>
                            <a:srgbClr val="EF4444"/>
                          </a:solidFill>
                          <a:latin typeface="Inter"/>
                          <a:ea typeface="Inter"/>
                          <a:cs typeface="Inter"/>
                          <a:sym typeface="Inter"/>
                        </a:rPr>
                        <a:t>❌ </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GB" sz="1300">
                          <a:solidFill>
                            <a:srgbClr val="4EBA65"/>
                          </a:solidFill>
                          <a:latin typeface="Inter"/>
                          <a:ea typeface="Inter"/>
                          <a:cs typeface="Inter"/>
                          <a:sym typeface="Inter"/>
                        </a:rPr>
                        <a:t>✅ </a:t>
                      </a:r>
                      <a:r>
                        <a:rPr b="1" i="0" lang="en-GB" sz="1300" u="none" cap="none" strike="noStrike">
                          <a:solidFill>
                            <a:srgbClr val="4EBA65"/>
                          </a:solidFill>
                          <a:latin typeface="Inter"/>
                          <a:ea typeface="Inter"/>
                          <a:cs typeface="Inter"/>
                          <a:sym typeface="Inter"/>
                        </a:rPr>
                        <a:t>(1000x cheaper)</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445275">
                <a:tc>
                  <a:txBody>
                    <a:bodyPr/>
                    <a:lstStyle/>
                    <a:p>
                      <a:pPr indent="0" lvl="0" marL="0" marR="0" rtl="0" algn="ctr">
                        <a:lnSpc>
                          <a:spcPct val="100000"/>
                        </a:lnSpc>
                        <a:spcBef>
                          <a:spcPts val="0"/>
                        </a:spcBef>
                        <a:spcAft>
                          <a:spcPts val="0"/>
                        </a:spcAft>
                        <a:buClr>
                          <a:srgbClr val="000000"/>
                        </a:buClr>
                        <a:buSzPts val="1000"/>
                        <a:buFont typeface="Arial"/>
                        <a:buNone/>
                      </a:pPr>
                      <a:r>
                        <a:rPr b="1" i="0" lang="en-GB" sz="1600" u="none" cap="none" strike="noStrike">
                          <a:solidFill>
                            <a:srgbClr val="F5F5F5"/>
                          </a:solidFill>
                          <a:latin typeface="Inter"/>
                          <a:ea typeface="Inter"/>
                          <a:cs typeface="Inter"/>
                          <a:sym typeface="Inter"/>
                        </a:rPr>
                        <a:t>Target User</a:t>
                      </a:r>
                      <a:endParaRPr sz="1700"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GB" sz="1300" u="none" cap="none" strike="noStrike">
                          <a:solidFill>
                            <a:srgbClr val="F5F5F5"/>
                          </a:solidFill>
                          <a:latin typeface="Inter"/>
                          <a:ea typeface="Inter"/>
                          <a:cs typeface="Inter"/>
                          <a:sym typeface="Inter"/>
                        </a:rPr>
                        <a:t>Humans</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GB" sz="1300" u="none" cap="none" strike="noStrike">
                          <a:solidFill>
                            <a:srgbClr val="F5F5F5"/>
                          </a:solidFill>
                          <a:latin typeface="Inter"/>
                          <a:ea typeface="Inter"/>
                          <a:cs typeface="Inter"/>
                          <a:sym typeface="Inter"/>
                        </a:rPr>
                        <a:t>Custodians</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GB" sz="1300" u="none" cap="none" strike="noStrike">
                          <a:solidFill>
                            <a:srgbClr val="4EBA65"/>
                          </a:solidFill>
                          <a:latin typeface="Inter"/>
                          <a:ea typeface="Inter"/>
                          <a:cs typeface="Inter"/>
                          <a:sym typeface="Inter"/>
                        </a:rPr>
                        <a:t>AI Agent Devs</a:t>
                      </a:r>
                      <a:endParaRPr u="none" cap="none" strike="noStrike"/>
                    </a:p>
                  </a:txBody>
                  <a:tcPr marT="19050" marB="19050" marR="47625" marL="4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bl>
          </a:graphicData>
        </a:graphic>
      </p:graphicFrame>
      <p:sp>
        <p:nvSpPr>
          <p:cNvPr id="386" name="Google Shape;386;p37"/>
          <p:cNvSpPr/>
          <p:nvPr/>
        </p:nvSpPr>
        <p:spPr>
          <a:xfrm>
            <a:off x="435769" y="2085975"/>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7" name="Google Shape;387;p37"/>
          <p:cNvSpPr/>
          <p:nvPr/>
        </p:nvSpPr>
        <p:spPr>
          <a:xfrm>
            <a:off x="2954722" y="2085975"/>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8" name="Google Shape;388;p37"/>
          <p:cNvSpPr/>
          <p:nvPr/>
        </p:nvSpPr>
        <p:spPr>
          <a:xfrm>
            <a:off x="4473885" y="2085975"/>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9" name="Google Shape;389;p37"/>
          <p:cNvSpPr/>
          <p:nvPr/>
        </p:nvSpPr>
        <p:spPr>
          <a:xfrm>
            <a:off x="6277347" y="2085975"/>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0" name="Google Shape;390;p37"/>
          <p:cNvSpPr/>
          <p:nvPr/>
        </p:nvSpPr>
        <p:spPr>
          <a:xfrm>
            <a:off x="435769" y="2528888"/>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1" name="Google Shape;391;p37"/>
          <p:cNvSpPr/>
          <p:nvPr/>
        </p:nvSpPr>
        <p:spPr>
          <a:xfrm>
            <a:off x="2954722" y="2528888"/>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2" name="Google Shape;392;p37"/>
          <p:cNvSpPr/>
          <p:nvPr/>
        </p:nvSpPr>
        <p:spPr>
          <a:xfrm>
            <a:off x="4473885" y="2528888"/>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3" name="Google Shape;393;p37"/>
          <p:cNvSpPr/>
          <p:nvPr/>
        </p:nvSpPr>
        <p:spPr>
          <a:xfrm>
            <a:off x="6277347" y="2528888"/>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4" name="Google Shape;394;p37"/>
          <p:cNvSpPr/>
          <p:nvPr/>
        </p:nvSpPr>
        <p:spPr>
          <a:xfrm>
            <a:off x="435769" y="2971800"/>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5" name="Google Shape;395;p37"/>
          <p:cNvSpPr/>
          <p:nvPr/>
        </p:nvSpPr>
        <p:spPr>
          <a:xfrm>
            <a:off x="2954722" y="2971800"/>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6" name="Google Shape;396;p37"/>
          <p:cNvSpPr/>
          <p:nvPr/>
        </p:nvSpPr>
        <p:spPr>
          <a:xfrm>
            <a:off x="4473885" y="2971800"/>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7" name="Google Shape;397;p37"/>
          <p:cNvSpPr/>
          <p:nvPr/>
        </p:nvSpPr>
        <p:spPr>
          <a:xfrm>
            <a:off x="6277347" y="2971800"/>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8" name="Google Shape;398;p37"/>
          <p:cNvSpPr/>
          <p:nvPr/>
        </p:nvSpPr>
        <p:spPr>
          <a:xfrm>
            <a:off x="435769" y="3414713"/>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9" name="Google Shape;399;p37"/>
          <p:cNvSpPr/>
          <p:nvPr/>
        </p:nvSpPr>
        <p:spPr>
          <a:xfrm>
            <a:off x="2954722" y="3414713"/>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0" name="Google Shape;400;p37"/>
          <p:cNvSpPr/>
          <p:nvPr/>
        </p:nvSpPr>
        <p:spPr>
          <a:xfrm>
            <a:off x="4473885" y="3414713"/>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1" name="Google Shape;401;p37"/>
          <p:cNvSpPr/>
          <p:nvPr/>
        </p:nvSpPr>
        <p:spPr>
          <a:xfrm>
            <a:off x="6277347" y="3414713"/>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2" name="Google Shape;402;p37"/>
          <p:cNvSpPr/>
          <p:nvPr/>
        </p:nvSpPr>
        <p:spPr>
          <a:xfrm>
            <a:off x="435769" y="3857625"/>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3" name="Google Shape;403;p37"/>
          <p:cNvSpPr/>
          <p:nvPr/>
        </p:nvSpPr>
        <p:spPr>
          <a:xfrm>
            <a:off x="2954722" y="3857625"/>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4" name="Google Shape;404;p37"/>
          <p:cNvSpPr/>
          <p:nvPr/>
        </p:nvSpPr>
        <p:spPr>
          <a:xfrm>
            <a:off x="4473885" y="3857625"/>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5" name="Google Shape;405;p37"/>
          <p:cNvSpPr/>
          <p:nvPr/>
        </p:nvSpPr>
        <p:spPr>
          <a:xfrm>
            <a:off x="6277347" y="3857625"/>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6" name="Google Shape;406;p37"/>
          <p:cNvSpPr/>
          <p:nvPr/>
        </p:nvSpPr>
        <p:spPr>
          <a:xfrm>
            <a:off x="435769" y="4300538"/>
            <a:ext cx="25191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7" name="Google Shape;407;p37"/>
          <p:cNvSpPr/>
          <p:nvPr/>
        </p:nvSpPr>
        <p:spPr>
          <a:xfrm>
            <a:off x="2954722" y="4300538"/>
            <a:ext cx="15192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8" name="Google Shape;408;p37"/>
          <p:cNvSpPr/>
          <p:nvPr/>
        </p:nvSpPr>
        <p:spPr>
          <a:xfrm>
            <a:off x="4473885" y="4300538"/>
            <a:ext cx="18036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9" name="Google Shape;409;p37"/>
          <p:cNvSpPr/>
          <p:nvPr/>
        </p:nvSpPr>
        <p:spPr>
          <a:xfrm>
            <a:off x="6277347" y="4300538"/>
            <a:ext cx="2430900" cy="7200"/>
          </a:xfrm>
          <a:prstGeom prst="rect">
            <a:avLst/>
          </a:prstGeom>
          <a:solidFill>
            <a:srgbClr val="30363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id="410" name="Google Shape;410;p37"/>
          <p:cNvPicPr preferRelativeResize="0"/>
          <p:nvPr/>
        </p:nvPicPr>
        <p:blipFill>
          <a:blip r:embed="rId4">
            <a:alphaModFix/>
          </a:blip>
          <a:stretch>
            <a:fillRect/>
          </a:stretch>
        </p:blipFill>
        <p:spPr>
          <a:xfrm>
            <a:off x="2954719" y="857238"/>
            <a:ext cx="1333950" cy="739425"/>
          </a:xfrm>
          <a:prstGeom prst="rect">
            <a:avLst/>
          </a:prstGeom>
          <a:noFill/>
          <a:ln>
            <a:noFill/>
          </a:ln>
        </p:spPr>
      </p:pic>
      <p:pic>
        <p:nvPicPr>
          <p:cNvPr id="411" name="Google Shape;411;p37"/>
          <p:cNvPicPr preferRelativeResize="0"/>
          <p:nvPr/>
        </p:nvPicPr>
        <p:blipFill>
          <a:blip r:embed="rId5">
            <a:alphaModFix/>
          </a:blip>
          <a:stretch>
            <a:fillRect/>
          </a:stretch>
        </p:blipFill>
        <p:spPr>
          <a:xfrm>
            <a:off x="4473874" y="857250"/>
            <a:ext cx="1387662" cy="792950"/>
          </a:xfrm>
          <a:prstGeom prst="rect">
            <a:avLst/>
          </a:prstGeom>
          <a:noFill/>
          <a:ln>
            <a:noFill/>
          </a:ln>
        </p:spPr>
      </p:pic>
      <p:pic>
        <p:nvPicPr>
          <p:cNvPr id="412" name="Google Shape;412;p37"/>
          <p:cNvPicPr preferRelativeResize="0"/>
          <p:nvPr/>
        </p:nvPicPr>
        <p:blipFill>
          <a:blip r:embed="rId6">
            <a:alphaModFix/>
          </a:blip>
          <a:stretch>
            <a:fillRect/>
          </a:stretch>
        </p:blipFill>
        <p:spPr>
          <a:xfrm>
            <a:off x="6556450" y="1052701"/>
            <a:ext cx="2011453" cy="498925"/>
          </a:xfrm>
          <a:prstGeom prst="rect">
            <a:avLst/>
          </a:prstGeom>
          <a:noFill/>
          <a:ln>
            <a:noFill/>
          </a:ln>
        </p:spPr>
      </p:pic>
      <p:pic>
        <p:nvPicPr>
          <p:cNvPr id="413" name="Google Shape;413;p37"/>
          <p:cNvPicPr preferRelativeResize="0"/>
          <p:nvPr/>
        </p:nvPicPr>
        <p:blipFill rotWithShape="1">
          <a:blip r:embed="rId6">
            <a:alphaModFix/>
          </a:blip>
          <a:srcRect b="0" l="0" r="0" t="0"/>
          <a:stretch/>
        </p:blipFill>
        <p:spPr>
          <a:xfrm>
            <a:off x="359050" y="4661625"/>
            <a:ext cx="1650929" cy="409500"/>
          </a:xfrm>
          <a:prstGeom prst="rect">
            <a:avLst/>
          </a:prstGeom>
          <a:noFill/>
          <a:ln>
            <a:noFill/>
          </a:ln>
        </p:spPr>
      </p:pic>
      <p:sp>
        <p:nvSpPr>
          <p:cNvPr id="414" name="Google Shape;414;p37"/>
          <p:cNvSpPr/>
          <p:nvPr/>
        </p:nvSpPr>
        <p:spPr>
          <a:xfrm>
            <a:off x="388554" y="317731"/>
            <a:ext cx="42900" cy="378600"/>
          </a:xfrm>
          <a:prstGeom prst="rect">
            <a:avLst/>
          </a:prstGeom>
          <a:solidFill>
            <a:srgbClr val="4EBA6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5" name="Google Shape;415;p37"/>
          <p:cNvSpPr txBox="1"/>
          <p:nvPr/>
        </p:nvSpPr>
        <p:spPr>
          <a:xfrm>
            <a:off x="531429" y="317731"/>
            <a:ext cx="8536200" cy="35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300"/>
              <a:buFont typeface="Arial"/>
              <a:buNone/>
            </a:pPr>
            <a:r>
              <a:rPr b="1" lang="en-GB" sz="2300">
                <a:solidFill>
                  <a:srgbClr val="F5F5F5"/>
                </a:solidFill>
                <a:latin typeface="JetBrains Mono"/>
                <a:ea typeface="JetBrains Mono"/>
                <a:cs typeface="JetBrains Mono"/>
                <a:sym typeface="JetBrains Mono"/>
              </a:rPr>
              <a:t>COMPETITIVE DIFFERENTIATION</a:t>
            </a:r>
            <a:endParaRPr b="1" sz="2300">
              <a:solidFill>
                <a:srgbClr val="F5F5F5"/>
              </a:solidFill>
              <a:latin typeface="JetBrains Mono"/>
              <a:ea typeface="JetBrains Mono"/>
              <a:cs typeface="JetBrains Mono"/>
              <a:sym typeface="JetBrains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3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7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